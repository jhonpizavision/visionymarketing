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5"/>
  </p:notesMasterIdLst>
  <p:sldIdLst>
    <p:sldId id="332" r:id="rId5"/>
    <p:sldId id="333" r:id="rId6"/>
    <p:sldId id="334" r:id="rId7"/>
    <p:sldId id="354" r:id="rId8"/>
    <p:sldId id="335" r:id="rId9"/>
    <p:sldId id="352" r:id="rId10"/>
    <p:sldId id="353" r:id="rId11"/>
    <p:sldId id="337" r:id="rId12"/>
    <p:sldId id="331" r:id="rId13"/>
    <p:sldId id="276" r:id="rId14"/>
    <p:sldId id="257" r:id="rId15"/>
    <p:sldId id="311" r:id="rId16"/>
    <p:sldId id="261" r:id="rId17"/>
    <p:sldId id="312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351" r:id="rId26"/>
    <p:sldId id="343" r:id="rId27"/>
    <p:sldId id="341" r:id="rId28"/>
    <p:sldId id="325" r:id="rId29"/>
    <p:sldId id="338" r:id="rId30"/>
    <p:sldId id="339" r:id="rId31"/>
    <p:sldId id="340" r:id="rId32"/>
    <p:sldId id="342" r:id="rId33"/>
    <p:sldId id="330" r:id="rId3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forme Auditoria" id="{A25F183A-8BA2-49AA-B54A-A2BC4D92F211}">
          <p14:sldIdLst>
            <p14:sldId id="332"/>
            <p14:sldId id="333"/>
            <p14:sldId id="334"/>
            <p14:sldId id="354"/>
            <p14:sldId id="335"/>
            <p14:sldId id="352"/>
            <p14:sldId id="353"/>
            <p14:sldId id="337"/>
          </p14:sldIdLst>
        </p14:section>
        <p14:section name="Informe Impulso" id="{E8B82DF3-41FF-4FB9-AD16-3D52B042A577}">
          <p14:sldIdLst>
            <p14:sldId id="331"/>
            <p14:sldId id="276"/>
            <p14:sldId id="257"/>
            <p14:sldId id="311"/>
            <p14:sldId id="261"/>
            <p14:sldId id="312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43"/>
            <p14:sldId id="341"/>
            <p14:sldId id="325"/>
            <p14:sldId id="338"/>
            <p14:sldId id="339"/>
            <p14:sldId id="340"/>
            <p14:sldId id="342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1C24"/>
    <a:srgbClr val="AA050B"/>
    <a:srgbClr val="F7A720"/>
    <a:srgbClr val="6717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32056D-C57F-4F8D-8EAB-85B81DDD1F33}" v="17" dt="2025-03-05T13:00:58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EFB4B-FD0F-477A-B24D-2809953E74D7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85ECE-ACD0-4162-81D4-6AB2045C4D1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346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ACEFA-DFB7-4347-27DB-4FEBFAC75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6278C7-C559-E1BC-41BB-FA6D23E21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04513F-67EF-01D5-EB2B-0B1B79024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CF3A9C-A675-2083-6266-566B4FC7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FBBBCD-5989-C3BC-A034-9B690689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317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E63BB-83F4-1488-AAFA-3A1BCF50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2ED79-98A3-28A0-647E-9CCFB12D2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4AC606-28FC-48D5-4CDC-ED071E7B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99D14-0038-1F77-CDED-A08ECD1F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0D1123-6F26-EFEE-1C08-87365795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793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C4743-3797-8EF2-54A6-2940A271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DD0B07-F8A5-DC14-18FB-A4E474F55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D3B3F7-0121-CE8C-25DB-25F3932D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9CC36C-6547-E97B-2DA8-798437B1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F53F5-61E5-F47F-D5E4-4505C797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85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D1600-18E9-3780-C21A-4DA9FF47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7A6EC-91D0-3E68-103B-BCF12881A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ADF4F3-06DE-6D83-7700-ABB40B2E0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79D79B-4BD4-6605-4F6D-CCED1A26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9F05AC-CFCE-9BB7-83C0-CFDCABBC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3BAB0A-EF13-2518-5E13-187FC21C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4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5A756-2D08-DC5B-6E75-775C08FF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51D1C4-6D1E-11E3-4FFD-2958ADCAA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0582D3-FA06-662C-CF85-56150FABF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74B67F-FAC7-A2FB-B22A-DCF429E93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BD0DF1-037F-B8E5-6E9C-1C04CFDDE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57F22E-1B69-1ECE-530A-9EF708E8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34BC52-AA33-0C60-B68D-C8834129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12CC42-039D-0DC9-160A-02378CA4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96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D7C3D-9DFE-F065-25B5-BCE0679B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8ADFB9-187B-EA28-D84A-B062DDAE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C3CBF9-B46C-C1BA-C6FF-6C452C4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85F4E5-EEE4-6487-2D09-A044296D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444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973A7B-A1E0-F895-72AD-3DE739B5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D86808-12FB-21C8-E274-F1D773624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EC0A6B-95FD-A557-589A-2CE02C15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636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FD864-8826-7329-51E5-9CD1A063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09ADB9-885E-7E7B-9A2C-874995668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5B5454-5468-6E6C-8853-960D6D437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CDDAB4-E7A0-1173-7A43-EA615188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CBB48C-4002-A526-C2BB-F2D3D10B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941ECB-8AE1-BB38-EF81-4DBD9326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388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BDC84-9312-37EC-E4FD-86008977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B17A30E-2F86-5B90-A4B1-3A2B5443D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E092E0-BCB0-9282-7A3F-F1516474D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F91D30-F39C-702D-4BFE-EDCE1E6F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6B9C29-71E5-A677-6912-359645AE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09A72A-CA7D-C2AF-B32B-00B7888F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5717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04287-89E9-6A06-68B1-B739DFB7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52327C-4C34-B17F-D025-065373711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FDDE24-D2B2-6945-6223-0FAC668D4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9A85D8-E75A-716A-5AED-F0F5B7D9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DB26EB-3EED-F7C5-D125-13B2BE2A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385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7AFA14-DBF8-5C9D-2DD8-B1BD0E195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47767C-3976-5BB8-F6D7-43B337480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7DEF89-245A-A6EA-A491-FA68305E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9CBE9C-176F-8B7D-AA5C-7B353126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6B3040-EFBC-2E04-2044-696B004B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511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7BE2EC-586A-DD9E-C280-FB23A3304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94821B-7E1E-5B88-0C2C-4C14E87C3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861983-7AB0-F5B7-4A23-3E7917DA4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DEB5A-F4D6-4C7F-84CB-78EC876CF29C}" type="datetimeFigureOut">
              <a:rPr lang="es-CO" smtClean="0"/>
              <a:t>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F6E65D-85D1-8556-46A3-C09F89197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145D03-B164-5562-C207-79E7B5F74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54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hyperlink" Target="https://drive.google.com/file/d/1dSbCEeSAX8XP65JEn4_fhJtWaXdftAGf/view?usp=drive_lin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hyperlink" Target="https://drive.google.com/file/d/1IvgKH4gu8kVkMq1IMPurtEXuT_MfxRZr/view?usp=drive_link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hyperlink" Target="https://drive.google.com/file/d/1Lmepepk4kPg63rNJudeei62cTbpcT86m/view?usp=drive_lin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dJxfoE_vUxSahdw-az_5R2Y84xAeemD7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J2RwmsEJ6KQmRNb4NJ7km3iHKWuB674K/view?usp=drive_link" TargetMode="External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file/d/1L94Xal8rBSqMOSN_gaUUukC8a2IRCnBt/view?usp=drive_link" TargetMode="External"/><Relationship Id="rId5" Type="http://schemas.openxmlformats.org/officeDocument/2006/relationships/hyperlink" Target="https://drive.google.com/file/d/12Aco7R0rMEmkXd65a55WkdCQv_3STEF1/view?usp=drive_link" TargetMode="External"/><Relationship Id="rId4" Type="http://schemas.openxmlformats.org/officeDocument/2006/relationships/hyperlink" Target="https://drive.google.com/file/d/1UxBUCpGIs7Js5jgt8W_Vt0Uyo2foAmzm/view?usp=drive_link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HaJ-7XVtVzU6iLyoWfcZ8bqnS249fYHA/view?usp=drive_link" TargetMode="External"/><Relationship Id="rId3" Type="http://schemas.openxmlformats.org/officeDocument/2006/relationships/hyperlink" Target="https://drive.google.com/file/d/1HG3zfZkUZ2oCgxhI19idftU6LHRpxQQ6/view?usp=drive_link" TargetMode="External"/><Relationship Id="rId7" Type="http://schemas.openxmlformats.org/officeDocument/2006/relationships/hyperlink" Target="https://drive.google.com/file/d/1KXz_TUilebE10jKM4xcsJpv_-jFdbXd3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file/d/1YL9UpMHiJTilf4jzMehw7t6hVkBuwvYS/view?usp=drive_link" TargetMode="External"/><Relationship Id="rId5" Type="http://schemas.openxmlformats.org/officeDocument/2006/relationships/hyperlink" Target="https://drive.google.com/file/d/10RW1DRakbwUhhm7M7sRADCK7qOQXi0X0/view?usp=drive_link" TargetMode="External"/><Relationship Id="rId10" Type="http://schemas.openxmlformats.org/officeDocument/2006/relationships/image" Target="../media/image23.png"/><Relationship Id="rId4" Type="http://schemas.openxmlformats.org/officeDocument/2006/relationships/hyperlink" Target="https://drive.google.com/file/d/10Can88WBFtYz8-FLEJcjIlKIMafZT5_8/view?usp=drive_link" TargetMode="External"/><Relationship Id="rId9" Type="http://schemas.openxmlformats.org/officeDocument/2006/relationships/hyperlink" Target="https://drive.google.com/file/d/1X2kM8aKfRG6IDESM5kWFdyJYXT3MfSms/view?usp=drive_link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uyCkyq02OLI43aOGEXZnXc31TDbgnP1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l2qkzqvqd-zBG-tnCyPqgnKxCgga0Ac2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I_83Tcy1Eo5VZlAAc4H1gtgfA175ec6x/view?usp=drive_link" TargetMode="External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file/d/1lHcPHLjFNxjrzwK2wW7URnpdt-mJzTPp/view?usp=drive_link" TargetMode="External"/><Relationship Id="rId5" Type="http://schemas.openxmlformats.org/officeDocument/2006/relationships/hyperlink" Target="https://drive.google.com/file/d/1tQ6hU_aoKFgSVChhj2wPSCqMtkzRy8eC/view?usp=drive_link" TargetMode="External"/><Relationship Id="rId4" Type="http://schemas.openxmlformats.org/officeDocument/2006/relationships/hyperlink" Target="https://drive.google.com/file/d/1RRTofXpOTb7vs1iAyZ6mIpFQDUoES8iw/view?usp=drive_link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t94Yxm3Vf9iuIUp9vKytMJoEDHHmrwf4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EGI8-BxfeO7iR4wNs44BXMumfOQVkp6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-NutpgAScNBQoIaJScTeSIhSVYBKvOnr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OKHEBXQmDXiS4v0I0kSdTCPZ84Z1vZbp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NSN6PYCyxB6pHEG-xGpCJY23j3VbSAqC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hyperlink" Target="https://drive.google.com/file/d/1jm67uv-mxUO84GtwnJ9hevxEot9gsJv4/view?usp=drive_link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roLMzUAo0E_mzfvoAd9tHSNPoiw5wvS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1NMmZEF_hcrGFH4qa1TI6x2bGFZQo3D4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ljUI_lnCpc2-SbOsvH03E1fx4JS54xVY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BrG4MHtSiM_2ZNf8xsQvK6aOIVB5aqm6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nqGduGSqwsvOYr4D-W09T3hsPVHqfEAX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kns1O4hCb6ruM3uToQ_ttxjO1TH66ngP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FA317-B3C6-544A-9CEC-25C65915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812C31D-3CC5-AE6F-6DC6-DC2AB7DB08B7}"/>
              </a:ext>
            </a:extLst>
          </p:cNvPr>
          <p:cNvSpPr/>
          <p:nvPr/>
        </p:nvSpPr>
        <p:spPr>
          <a:xfrm>
            <a:off x="0" y="0"/>
            <a:ext cx="3047999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D12CA50E-0C11-3EB7-AA8E-DD7D2EFB3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7" y="1512616"/>
            <a:ext cx="2560659" cy="485171"/>
          </a:xfrm>
          <a:prstGeom prst="rect">
            <a:avLst/>
          </a:prstGeom>
        </p:spPr>
      </p:pic>
      <p:pic>
        <p:nvPicPr>
          <p:cNvPr id="15" name="Imagen 14" descr="Un perro sentado en el suelo&#10;&#10;El contenido generado por IA puede ser incorrecto.">
            <a:extLst>
              <a:ext uri="{FF2B5EF4-FFF2-40B4-BE49-F238E27FC236}">
                <a16:creationId xmlns:a16="http://schemas.microsoft.com/office/drawing/2014/main" id="{D74108FF-D162-4798-6724-54AB54E7D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7B31CB7F-F65F-251B-F642-C7D40861EB8B}"/>
              </a:ext>
            </a:extLst>
          </p:cNvPr>
          <p:cNvSpPr txBox="1"/>
          <p:nvPr/>
        </p:nvSpPr>
        <p:spPr>
          <a:xfrm>
            <a:off x="251668" y="2650588"/>
            <a:ext cx="26330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INFORME MENSUAL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AUDITORIA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- Marzo 2025 - 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02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E282-9F63-9DF6-BA90-42CB173E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155CB5D-BA0C-CAF7-2F0F-4394F9AD5844}"/>
              </a:ext>
            </a:extLst>
          </p:cNvPr>
          <p:cNvSpPr/>
          <p:nvPr/>
        </p:nvSpPr>
        <p:spPr>
          <a:xfrm>
            <a:off x="19763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F66B9E6-5CEA-0421-DFAD-B5F1900EB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16EE9CB-71E5-9AFE-8E7A-1A74FD75F23B}"/>
              </a:ext>
            </a:extLst>
          </p:cNvPr>
          <p:cNvSpPr txBox="1"/>
          <p:nvPr/>
        </p:nvSpPr>
        <p:spPr>
          <a:xfrm>
            <a:off x="2787898" y="1016734"/>
            <a:ext cx="84956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/>
              <a:t>La auditoria de forma critica evaluó KPIS específicos de la gestión a través de una encuesta, en la cual cada pregunta fue </a:t>
            </a:r>
            <a:r>
              <a:rPr lang="es-MX" sz="1300" dirty="0" err="1"/>
              <a:t>clusterizada</a:t>
            </a:r>
            <a:r>
              <a:rPr lang="es-MX" sz="1300" dirty="0"/>
              <a:t> y punteada de la siguiente manera:</a:t>
            </a:r>
            <a:endParaRPr lang="es-CO" sz="130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3A27C6F-099B-23E2-0FBF-C940DFCE3880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BD11828-949C-D2F6-7826-69821A46DC57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D4B4EC2-2B82-9176-5626-2B64202C2BEA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Marzo</a:t>
            </a:r>
            <a:endParaRPr lang="es-CO" sz="16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5A1899-F51E-9451-B8A7-0A68A2BA8466}"/>
              </a:ext>
            </a:extLst>
          </p:cNvPr>
          <p:cNvSpPr txBox="1"/>
          <p:nvPr/>
        </p:nvSpPr>
        <p:spPr>
          <a:xfrm>
            <a:off x="2889029" y="2879302"/>
            <a:ext cx="87573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solidFill>
                  <a:srgbClr val="C00000"/>
                </a:solidFill>
              </a:rPr>
              <a:t>Descripción por  Clúster evaluado</a:t>
            </a:r>
            <a:r>
              <a:rPr lang="es-MX" sz="1200" dirty="0">
                <a:solidFill>
                  <a:srgbClr val="C00000"/>
                </a:solidFill>
              </a:rPr>
              <a:t>:</a:t>
            </a:r>
          </a:p>
          <a:p>
            <a:pPr algn="just"/>
            <a:endParaRPr lang="es-MX" sz="1200" dirty="0">
              <a:solidFill>
                <a:srgbClr val="C00000"/>
              </a:solidFill>
            </a:endParaRPr>
          </a:p>
          <a:p>
            <a:pPr algn="just"/>
            <a:r>
              <a:rPr lang="es-MX" sz="1200" b="1" dirty="0"/>
              <a:t>ACTIVIDADES DEL MES: </a:t>
            </a:r>
            <a:r>
              <a:rPr lang="es-MX" sz="1200" dirty="0"/>
              <a:t>Implementación de las actividades de acuerdo al canal: </a:t>
            </a:r>
            <a:endParaRPr lang="es-MX" sz="1200" b="1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Especializado: </a:t>
            </a:r>
            <a:r>
              <a:rPr lang="es-MX" sz="1200" dirty="0"/>
              <a:t>Cuenta con la exhibición de la actividad camas Pro Plan Gatos, sticker de la reducción de precios Excellent , actividad del mes del gato, material POP y amarre de obsequios (pouches y </a:t>
            </a:r>
            <a:r>
              <a:rPr lang="es-MX" sz="1200" dirty="0" err="1"/>
              <a:t>portacroquetas</a:t>
            </a:r>
            <a:r>
              <a:rPr lang="es-MX" sz="1200" dirty="0"/>
              <a:t>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Moderno</a:t>
            </a:r>
            <a:r>
              <a:rPr lang="es-MX" sz="1200" dirty="0"/>
              <a:t>: En la cadena Olímpica conoce la actividad de Multiplepricing, Cat chow x 1,3kg a 3 kg cuenta con el amarre de dispensadores de croquetas, Hay material POP implementado de la actividad "Hoy ganas mañana tambien“, Explicar la manera correcta de inscripción , participación y premios  en "Hoy ganas mañana tambien“.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Tradicional:  </a:t>
            </a:r>
            <a:r>
              <a:rPr lang="es-MX" sz="1200" dirty="0"/>
              <a:t>la nueva estrategia de baja de precios.</a:t>
            </a:r>
          </a:p>
          <a:p>
            <a:pPr lvl="1" algn="just"/>
            <a:endParaRPr lang="es-MX" sz="1200" dirty="0"/>
          </a:p>
          <a:p>
            <a:pPr algn="just"/>
            <a:r>
              <a:rPr lang="es-MX" sz="1200" b="1" dirty="0"/>
              <a:t>EJECUCION DEL PDV:  </a:t>
            </a:r>
            <a:r>
              <a:rPr lang="es-MX" sz="1200" dirty="0"/>
              <a:t>Limpieza del pdv, Precio y surtido de productos, Infaltables, ayuda ventas, conocimiento en surtidos, estrategia de exhibición para las marcas Mainstrain (Alpo y Gatsy) de Purina , % de participación que tiene en el punto de venta.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HORARIO: </a:t>
            </a:r>
            <a:r>
              <a:rPr lang="es-MX" sz="1200" dirty="0"/>
              <a:t>El asesor debe estar presente en pdv en los turnos compartidos por malla horaria. 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UNIFORME: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Cumple con el código de vestimenta, limpios y en buen estado: Pantalón, Camisa, calzado.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Cabello limpio, organizado y recogido.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No exceso de maquillaje, accesorios no propios del uniforme, tatuajes, piercings, uñas desarregladas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BCD11A5-054C-DA37-4688-F71B437789C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96360" y="2879302"/>
            <a:ext cx="463336" cy="46333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E41E785-529C-A43B-8A21-629A13A8B856}"/>
              </a:ext>
            </a:extLst>
          </p:cNvPr>
          <p:cNvSpPr txBox="1"/>
          <p:nvPr/>
        </p:nvSpPr>
        <p:spPr>
          <a:xfrm>
            <a:off x="884513" y="2860174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3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9D9442A-C892-F626-09BD-F1584A659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920" y="1620770"/>
            <a:ext cx="3227614" cy="123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019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148BC7B-FA01-522B-AFFE-4B9D33C4532B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A941CE4-C805-F56B-8496-B3F3420DAF00}"/>
              </a:ext>
            </a:extLst>
          </p:cNvPr>
          <p:cNvSpPr txBox="1"/>
          <p:nvPr/>
        </p:nvSpPr>
        <p:spPr>
          <a:xfrm>
            <a:off x="207800" y="6260704"/>
            <a:ext cx="2165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>
                <a:solidFill>
                  <a:schemeClr val="bg1"/>
                </a:solidFill>
                <a:latin typeface="Franklin Gothic Demi" panose="020B0703020102020204" pitchFamily="34" charset="0"/>
              </a:rPr>
              <a:t>Informe 1</a:t>
            </a:r>
            <a:endParaRPr lang="es-MX" sz="900">
              <a:solidFill>
                <a:schemeClr val="bg1"/>
              </a:solidFill>
            </a:endParaRPr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0D3349-9D68-E2A3-5D11-A671C433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F0D9E00-62B8-F581-08CE-1657F389A062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8923BB3-648E-8035-B4BA-B1B176CC9BA6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17A915-85AE-5FA2-8B73-8C6D4927CC78}"/>
              </a:ext>
            </a:extLst>
          </p:cNvPr>
          <p:cNvSpPr txBox="1"/>
          <p:nvPr/>
        </p:nvSpPr>
        <p:spPr>
          <a:xfrm>
            <a:off x="2877350" y="1328821"/>
            <a:ext cx="8652072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/>
              <a:t>Se logra visitar el panel propuesto de 4 pdv con 3 auditorias efectivas en pdv.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/>
              <a:t>Detalle de la ejecucion por ciudad de acuerdo con los objetivos propuestos: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54A186A-8BB1-885B-9A38-62E4927CA8C1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Marzo</a:t>
            </a:r>
            <a:endParaRPr lang="es-CO" sz="16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BFD5C63-9190-FCFB-F015-5ECE2AE5FF00}"/>
              </a:ext>
            </a:extLst>
          </p:cNvPr>
          <p:cNvSpPr txBox="1"/>
          <p:nvPr/>
        </p:nvSpPr>
        <p:spPr>
          <a:xfrm>
            <a:off x="2857088" y="3619541"/>
            <a:ext cx="8495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Detalle PDV con cobertura, </a:t>
            </a:r>
            <a:r>
              <a:rPr lang="es-MX" sz="1400" b="1" dirty="0">
                <a:solidFill>
                  <a:srgbClr val="FF0000"/>
                </a:solidFill>
              </a:rPr>
              <a:t>SIN AUDITORIA EFECTIVA</a:t>
            </a:r>
            <a:r>
              <a:rPr lang="es-MX" sz="1400" dirty="0"/>
              <a:t>: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F7950FF-61FA-4A48-D134-94D6E730A8C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271807" y="2628025"/>
            <a:ext cx="463336" cy="46333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25B7589-35F9-E6B9-939C-933F573FD335}"/>
              </a:ext>
            </a:extLst>
          </p:cNvPr>
          <p:cNvSpPr txBox="1"/>
          <p:nvPr/>
        </p:nvSpPr>
        <p:spPr>
          <a:xfrm>
            <a:off x="759960" y="260889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2AB9D43-4468-1F39-C731-22C490F3678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271807" y="3493380"/>
            <a:ext cx="463336" cy="46333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0F4CDF-708A-4FCF-4D55-A4E26505CF3C}"/>
              </a:ext>
            </a:extLst>
          </p:cNvPr>
          <p:cNvSpPr txBox="1"/>
          <p:nvPr/>
        </p:nvSpPr>
        <p:spPr>
          <a:xfrm>
            <a:off x="759960" y="3474252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 err="1">
                <a:solidFill>
                  <a:schemeClr val="bg1"/>
                </a:solidFill>
              </a:rPr>
              <a:t>Medellin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7C72ED4-5C98-586E-BFB4-8C5A5413552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271807" y="4352986"/>
            <a:ext cx="463336" cy="46333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BC06A32-63E0-864F-6CC4-51A51F884BEE}"/>
              </a:ext>
            </a:extLst>
          </p:cNvPr>
          <p:cNvSpPr txBox="1"/>
          <p:nvPr/>
        </p:nvSpPr>
        <p:spPr>
          <a:xfrm>
            <a:off x="759960" y="433385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 err="1">
                <a:solidFill>
                  <a:schemeClr val="bg1"/>
                </a:solidFill>
              </a:rPr>
              <a:t>Bquilla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6ABDCA4-E07F-38A3-03A8-F7F826614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575" y="1952805"/>
            <a:ext cx="7577718" cy="143737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7345D90-C090-5018-299D-2E47837A0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9598" y="4283236"/>
            <a:ext cx="726757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8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374E-B733-B0F9-1088-1EB4EA92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8BDE0322-30DB-9007-ED46-C39CBD8D1A5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1F8664AF-1E86-C238-78AC-FD7CDD600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C45A2B3-CBE7-6AF2-715B-B91866D1BE66}"/>
              </a:ext>
            </a:extLst>
          </p:cNvPr>
          <p:cNvSpPr txBox="1"/>
          <p:nvPr/>
        </p:nvSpPr>
        <p:spPr>
          <a:xfrm>
            <a:off x="2902158" y="748310"/>
            <a:ext cx="8572533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300" dirty="0"/>
              <a:t>Evaluando  pdv se obtiene un resultado del Mystery de un 99,6 </a:t>
            </a:r>
            <a:r>
              <a:rPr lang="es-MX" sz="1300" b="1" dirty="0"/>
              <a:t>%</a:t>
            </a:r>
            <a:r>
              <a:rPr lang="es-MX" sz="1300" dirty="0"/>
              <a:t> frente a los KPIS propuestos de gestión. Donde los clúster con oportunidad esta en temas de portafolio y labor de venta. </a:t>
            </a:r>
            <a:endParaRPr lang="es-CO" sz="130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89F43F9-A8D1-2800-F11E-55D722EFFAFC}"/>
              </a:ext>
            </a:extLst>
          </p:cNvPr>
          <p:cNvCxnSpPr>
            <a:cxnSpLocks/>
          </p:cNvCxnSpPr>
          <p:nvPr/>
        </p:nvCxnSpPr>
        <p:spPr>
          <a:xfrm>
            <a:off x="2877350" y="66927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C92EF89-8EA7-2F37-9EBE-23952BEC36F9}"/>
              </a:ext>
            </a:extLst>
          </p:cNvPr>
          <p:cNvSpPr/>
          <p:nvPr/>
        </p:nvSpPr>
        <p:spPr>
          <a:xfrm>
            <a:off x="9531626" y="486320"/>
            <a:ext cx="2335696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RESULTADOS OBTENIDOS</a:t>
            </a:r>
            <a:endParaRPr lang="es-CO" sz="1400" b="1"/>
          </a:p>
        </p:txBody>
      </p:sp>
      <p:sp>
        <p:nvSpPr>
          <p:cNvPr id="26" name="Círculo: vacío 25">
            <a:extLst>
              <a:ext uri="{FF2B5EF4-FFF2-40B4-BE49-F238E27FC236}">
                <a16:creationId xmlns:a16="http://schemas.microsoft.com/office/drawing/2014/main" id="{6B64A8C6-C254-6548-0113-BC59C8B4B648}"/>
              </a:ext>
            </a:extLst>
          </p:cNvPr>
          <p:cNvSpPr/>
          <p:nvPr/>
        </p:nvSpPr>
        <p:spPr>
          <a:xfrm>
            <a:off x="812148" y="4474009"/>
            <a:ext cx="994145" cy="1041989"/>
          </a:xfrm>
          <a:prstGeom prst="donut">
            <a:avLst>
              <a:gd name="adj" fmla="val 1617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8" name="Arco de bloque 27">
            <a:extLst>
              <a:ext uri="{FF2B5EF4-FFF2-40B4-BE49-F238E27FC236}">
                <a16:creationId xmlns:a16="http://schemas.microsoft.com/office/drawing/2014/main" id="{CF7B4852-1055-0A90-8C9C-535157C786C5}"/>
              </a:ext>
            </a:extLst>
          </p:cNvPr>
          <p:cNvSpPr/>
          <p:nvPr/>
        </p:nvSpPr>
        <p:spPr>
          <a:xfrm>
            <a:off x="812148" y="4474009"/>
            <a:ext cx="1010109" cy="1041989"/>
          </a:xfrm>
          <a:prstGeom prst="blockArc">
            <a:avLst>
              <a:gd name="adj1" fmla="val 15973888"/>
              <a:gd name="adj2" fmla="val 15325730"/>
              <a:gd name="adj3" fmla="val 187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9D9D877-17BF-C4B1-DBE2-2D740DCE891B}"/>
              </a:ext>
            </a:extLst>
          </p:cNvPr>
          <p:cNvSpPr txBox="1"/>
          <p:nvPr/>
        </p:nvSpPr>
        <p:spPr>
          <a:xfrm>
            <a:off x="909964" y="4805752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99,6%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595DA4B-18B9-9B71-84E8-ADECDAB52887}"/>
              </a:ext>
            </a:extLst>
          </p:cNvPr>
          <p:cNvSpPr txBox="1"/>
          <p:nvPr/>
        </p:nvSpPr>
        <p:spPr>
          <a:xfrm>
            <a:off x="679978" y="5515996"/>
            <a:ext cx="1234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b="1" dirty="0">
                <a:solidFill>
                  <a:schemeClr val="bg1"/>
                </a:solidFill>
                <a:latin typeface="Franklin Gothic Demi" panose="020B0703020102020204" pitchFamily="34" charset="0"/>
              </a:rPr>
              <a:t>Cierre Auditoria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Puntaje en Base objetivo calificación/Total calificación</a:t>
            </a:r>
            <a:endParaRPr lang="es-CO" sz="12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7E81395-129E-34AB-56A2-C2BF691746BB}"/>
              </a:ext>
            </a:extLst>
          </p:cNvPr>
          <p:cNvSpPr txBox="1"/>
          <p:nvPr/>
        </p:nvSpPr>
        <p:spPr>
          <a:xfrm>
            <a:off x="148106" y="3940397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F40C022-EC24-AD62-45FD-C18825EFF0C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91825" y="1240214"/>
            <a:ext cx="463336" cy="46333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22204D8-A801-5484-A730-68B575CD7204}"/>
              </a:ext>
            </a:extLst>
          </p:cNvPr>
          <p:cNvSpPr txBox="1"/>
          <p:nvPr/>
        </p:nvSpPr>
        <p:spPr>
          <a:xfrm>
            <a:off x="679978" y="1221086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3BFBD1-B8C8-AD84-F992-BC2995A91E6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91825" y="2105569"/>
            <a:ext cx="463336" cy="4633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2359F3C-64F6-1870-6367-025E002D76DB}"/>
              </a:ext>
            </a:extLst>
          </p:cNvPr>
          <p:cNvSpPr txBox="1"/>
          <p:nvPr/>
        </p:nvSpPr>
        <p:spPr>
          <a:xfrm>
            <a:off x="679978" y="2086441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 err="1">
                <a:solidFill>
                  <a:schemeClr val="bg1"/>
                </a:solidFill>
              </a:rPr>
              <a:t>Medellin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E3CCE45-F46D-247D-A7FB-B7AD631C3E6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91825" y="2965175"/>
            <a:ext cx="463336" cy="46333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95D1FC7-513F-72E0-6A50-7F0543476841}"/>
              </a:ext>
            </a:extLst>
          </p:cNvPr>
          <p:cNvSpPr txBox="1"/>
          <p:nvPr/>
        </p:nvSpPr>
        <p:spPr>
          <a:xfrm>
            <a:off x="679978" y="294604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 err="1">
                <a:solidFill>
                  <a:schemeClr val="bg1"/>
                </a:solidFill>
              </a:rPr>
              <a:t>Bquilla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56C0D7C-16C6-2D3B-B087-A36CC226F911}"/>
              </a:ext>
            </a:extLst>
          </p:cNvPr>
          <p:cNvSpPr txBox="1"/>
          <p:nvPr/>
        </p:nvSpPr>
        <p:spPr>
          <a:xfrm>
            <a:off x="2946880" y="66181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Marzo</a:t>
            </a:r>
            <a:endParaRPr lang="es-CO" sz="1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3D88637-0F0F-953C-C8A1-2C59860DF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350" y="1578753"/>
            <a:ext cx="3181350" cy="1209675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8484602-4AA2-DF44-ACC8-2FF7FF781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2158" y="4512373"/>
            <a:ext cx="8829597" cy="1384994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D027FA5-8C04-430B-1027-DF470ED0C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8351" y="2996669"/>
            <a:ext cx="5791200" cy="1219200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7CF8D2E1-1556-C801-9A4E-C3B7E8B3951B}"/>
              </a:ext>
            </a:extLst>
          </p:cNvPr>
          <p:cNvSpPr txBox="1"/>
          <p:nvPr/>
        </p:nvSpPr>
        <p:spPr>
          <a:xfrm>
            <a:off x="8463639" y="1608865"/>
            <a:ext cx="3268116" cy="138499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400" dirty="0"/>
              <a:t>El proceso de auditoría realizado cerró con un cumplimiento del 99,6%. </a:t>
            </a:r>
          </a:p>
          <a:p>
            <a:pPr algn="just"/>
            <a:r>
              <a:rPr lang="es-MX" sz="1400" dirty="0"/>
              <a:t>La única novedad identificada está relacionada con el uso del uniforme, específicamente con la visibilidad de tatuajes y/o piercings.</a:t>
            </a:r>
            <a:endParaRPr lang="es-MX" sz="1400" dirty="0">
              <a:highlight>
                <a:srgbClr val="FFFF00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4617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148BC7B-FA01-522B-AFFE-4B9D33C4532B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0D3349-9D68-E2A3-5D11-A671C433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0612E95-AE01-9B17-0E21-5EE5B44125E7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írculo: vacío 25">
            <a:extLst>
              <a:ext uri="{FF2B5EF4-FFF2-40B4-BE49-F238E27FC236}">
                <a16:creationId xmlns:a16="http://schemas.microsoft.com/office/drawing/2014/main" id="{FD40FAE1-7978-8DCD-CB20-22231DDC7615}"/>
              </a:ext>
            </a:extLst>
          </p:cNvPr>
          <p:cNvSpPr/>
          <p:nvPr/>
        </p:nvSpPr>
        <p:spPr>
          <a:xfrm>
            <a:off x="748005" y="3697255"/>
            <a:ext cx="994145" cy="1041989"/>
          </a:xfrm>
          <a:prstGeom prst="donut">
            <a:avLst>
              <a:gd name="adj" fmla="val 1617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8" name="Arco de bloque 27">
            <a:extLst>
              <a:ext uri="{FF2B5EF4-FFF2-40B4-BE49-F238E27FC236}">
                <a16:creationId xmlns:a16="http://schemas.microsoft.com/office/drawing/2014/main" id="{396A575C-B3C9-54B1-5FBA-72D59F445824}"/>
              </a:ext>
            </a:extLst>
          </p:cNvPr>
          <p:cNvSpPr/>
          <p:nvPr/>
        </p:nvSpPr>
        <p:spPr>
          <a:xfrm>
            <a:off x="748005" y="3697255"/>
            <a:ext cx="1010109" cy="1041989"/>
          </a:xfrm>
          <a:prstGeom prst="blockArc">
            <a:avLst>
              <a:gd name="adj1" fmla="val 15423998"/>
              <a:gd name="adj2" fmla="val 15542349"/>
              <a:gd name="adj3" fmla="val 1797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DDA9517-13BA-FD7C-D421-287A572F0437}"/>
              </a:ext>
            </a:extLst>
          </p:cNvPr>
          <p:cNvSpPr txBox="1"/>
          <p:nvPr/>
        </p:nvSpPr>
        <p:spPr>
          <a:xfrm>
            <a:off x="959349" y="3987416"/>
            <a:ext cx="681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Franklin Gothic Demi" panose="020B0703020102020204" pitchFamily="34" charset="0"/>
              </a:rPr>
              <a:t>0%</a:t>
            </a:r>
            <a:endParaRPr lang="es-CO" sz="2400" b="1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B2138D5-5A17-33F2-3955-097D717BD3DD}"/>
              </a:ext>
            </a:extLst>
          </p:cNvPr>
          <p:cNvSpPr txBox="1"/>
          <p:nvPr/>
        </p:nvSpPr>
        <p:spPr>
          <a:xfrm>
            <a:off x="615835" y="4739242"/>
            <a:ext cx="1234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b="1" dirty="0">
                <a:solidFill>
                  <a:schemeClr val="bg1"/>
                </a:solidFill>
                <a:latin typeface="Franklin Gothic Demi" panose="020B0703020102020204" pitchFamily="34" charset="0"/>
              </a:rPr>
              <a:t>Cierre Mystery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Puntaje en Base objetivo calificación/Total calificación</a:t>
            </a:r>
            <a:endParaRPr lang="es-CO" sz="12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677705F-285C-BC80-D5A1-1A5A9E491B60}"/>
              </a:ext>
            </a:extLst>
          </p:cNvPr>
          <p:cNvSpPr txBox="1"/>
          <p:nvPr/>
        </p:nvSpPr>
        <p:spPr>
          <a:xfrm>
            <a:off x="83963" y="3163643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74ADE33-5E56-5D46-1A02-F8E5D7773513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259852" y="1964085"/>
            <a:ext cx="463336" cy="46333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F93F314-DE9D-7170-9BA9-946B7A0FD2E2}"/>
              </a:ext>
            </a:extLst>
          </p:cNvPr>
          <p:cNvSpPr txBox="1"/>
          <p:nvPr/>
        </p:nvSpPr>
        <p:spPr>
          <a:xfrm>
            <a:off x="748005" y="194495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009A794-3B0E-986B-6DB9-1B90BD61790A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DISTRIBUCIONES MILENA</a:t>
            </a:r>
            <a:r>
              <a:rPr lang="es-MX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</a:t>
            </a:r>
            <a:r>
              <a:rPr lang="es-MX" sz="1800" b="0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Bquilla</a:t>
            </a:r>
            <a:r>
              <a:rPr lang="es-MX" dirty="0"/>
              <a:t> </a:t>
            </a:r>
            <a:endParaRPr lang="es-MX" dirty="0">
              <a:latin typeface="Franklin Gothic Demi" panose="020B0703020102020204" pitchFamily="34" charset="0"/>
            </a:endParaRPr>
          </a:p>
          <a:p>
            <a:r>
              <a:rPr lang="es-MX" dirty="0">
                <a:latin typeface="Franklin Gothic Demi" panose="020B0703020102020204" pitchFamily="34" charset="0"/>
              </a:rPr>
              <a:t>Canal Tradicional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A0387BE-7FF9-68E6-67A3-D9FD11BD4C67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69E59E6-A3FB-E639-2EA1-1D4829103C0C}"/>
              </a:ext>
            </a:extLst>
          </p:cNvPr>
          <p:cNvSpPr txBox="1"/>
          <p:nvPr/>
        </p:nvSpPr>
        <p:spPr>
          <a:xfrm>
            <a:off x="3055436" y="2529716"/>
            <a:ext cx="3941506" cy="1230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4"/>
              </a:rPr>
              <a:t>https://drive.google.com/file/d/1dSbCEeSAX8XP65JEn4_fhJtWaXdftAGf/view?usp=drive_link</a:t>
            </a:r>
            <a:endParaRPr lang="es-CO" dirty="0"/>
          </a:p>
          <a:p>
            <a:endParaRPr lang="es-CO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6681FE2-DC6A-FD3E-F656-3163DAE83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7525" y="1547550"/>
            <a:ext cx="3343816" cy="154515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7E31697-9FD8-7857-3882-5774A8533E51}"/>
              </a:ext>
            </a:extLst>
          </p:cNvPr>
          <p:cNvSpPr txBox="1"/>
          <p:nvPr/>
        </p:nvSpPr>
        <p:spPr>
          <a:xfrm>
            <a:off x="5893017" y="4249026"/>
            <a:ext cx="422901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/>
              <a:t>Gestion Exitosa de Auditoria</a:t>
            </a:r>
            <a:endParaRPr lang="es-CO" sz="2000" b="1" dirty="0"/>
          </a:p>
        </p:txBody>
      </p:sp>
    </p:spTree>
    <p:extLst>
      <p:ext uri="{BB962C8B-B14F-4D97-AF65-F5344CB8AC3E}">
        <p14:creationId xmlns:p14="http://schemas.microsoft.com/office/powerpoint/2010/main" val="3957929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2E882-EFBF-48BF-FD36-82894F718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8BBC252-4283-722E-9C51-E2C8E046B75C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EAF98798-70A7-CD64-D091-D7C99C51D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6E404C1-8D16-888A-B30F-CA34C3EBC3E4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írculo: vacío 25">
            <a:extLst>
              <a:ext uri="{FF2B5EF4-FFF2-40B4-BE49-F238E27FC236}">
                <a16:creationId xmlns:a16="http://schemas.microsoft.com/office/drawing/2014/main" id="{61EB26E4-5555-3FE3-DDCE-78165BF55F41}"/>
              </a:ext>
            </a:extLst>
          </p:cNvPr>
          <p:cNvSpPr/>
          <p:nvPr/>
        </p:nvSpPr>
        <p:spPr>
          <a:xfrm>
            <a:off x="748005" y="3697255"/>
            <a:ext cx="994145" cy="1041989"/>
          </a:xfrm>
          <a:prstGeom prst="donut">
            <a:avLst>
              <a:gd name="adj" fmla="val 1617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8" name="Arco de bloque 27">
            <a:extLst>
              <a:ext uri="{FF2B5EF4-FFF2-40B4-BE49-F238E27FC236}">
                <a16:creationId xmlns:a16="http://schemas.microsoft.com/office/drawing/2014/main" id="{9648646B-D9D8-70D8-6C94-821D41A706A1}"/>
              </a:ext>
            </a:extLst>
          </p:cNvPr>
          <p:cNvSpPr/>
          <p:nvPr/>
        </p:nvSpPr>
        <p:spPr>
          <a:xfrm>
            <a:off x="748005" y="3697255"/>
            <a:ext cx="1010109" cy="1041989"/>
          </a:xfrm>
          <a:prstGeom prst="blockArc">
            <a:avLst>
              <a:gd name="adj1" fmla="val 15423998"/>
              <a:gd name="adj2" fmla="val 15542349"/>
              <a:gd name="adj3" fmla="val 1797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B949CD5-8009-1C09-88F5-EC203AB3455C}"/>
              </a:ext>
            </a:extLst>
          </p:cNvPr>
          <p:cNvSpPr txBox="1"/>
          <p:nvPr/>
        </p:nvSpPr>
        <p:spPr>
          <a:xfrm>
            <a:off x="959349" y="3987416"/>
            <a:ext cx="681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Franklin Gothic Demi" panose="020B0703020102020204" pitchFamily="34" charset="0"/>
              </a:rPr>
              <a:t>0%</a:t>
            </a:r>
            <a:endParaRPr lang="es-CO" sz="2400" b="1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735398D-9D75-803C-3D70-D162099C36C0}"/>
              </a:ext>
            </a:extLst>
          </p:cNvPr>
          <p:cNvSpPr txBox="1"/>
          <p:nvPr/>
        </p:nvSpPr>
        <p:spPr>
          <a:xfrm>
            <a:off x="615835" y="4739242"/>
            <a:ext cx="1234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b="1" dirty="0">
                <a:solidFill>
                  <a:schemeClr val="bg1"/>
                </a:solidFill>
                <a:latin typeface="Franklin Gothic Demi" panose="020B0703020102020204" pitchFamily="34" charset="0"/>
              </a:rPr>
              <a:t>Cierre Mystery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Puntaje en Base objetivo calificación/Total calificación</a:t>
            </a:r>
            <a:endParaRPr lang="es-CO" sz="12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9E9D493-0E27-5C6C-D916-E2BBCD331A10}"/>
              </a:ext>
            </a:extLst>
          </p:cNvPr>
          <p:cNvSpPr txBox="1"/>
          <p:nvPr/>
        </p:nvSpPr>
        <p:spPr>
          <a:xfrm>
            <a:off x="83963" y="3163643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F7DD0A7-7B08-D946-7828-8F69D9C6CB03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259852" y="1964085"/>
            <a:ext cx="463336" cy="46333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B8D11F4-9FFB-8947-537B-C29F88C237D7}"/>
              </a:ext>
            </a:extLst>
          </p:cNvPr>
          <p:cNvSpPr txBox="1"/>
          <p:nvPr/>
        </p:nvSpPr>
        <p:spPr>
          <a:xfrm>
            <a:off x="748005" y="194495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58CCD76-6B67-35C5-78CD-752D939DA505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 CASA DE LOS TENDEROS - </a:t>
            </a:r>
            <a:r>
              <a:rPr lang="es-MX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Cali</a:t>
            </a:r>
            <a:r>
              <a:rPr lang="es-MX" dirty="0"/>
              <a:t> </a:t>
            </a:r>
            <a:endParaRPr lang="es-MX" dirty="0">
              <a:latin typeface="Franklin Gothic Demi" panose="020B0703020102020204" pitchFamily="34" charset="0"/>
            </a:endParaRPr>
          </a:p>
          <a:p>
            <a:r>
              <a:rPr lang="es-MX" dirty="0">
                <a:latin typeface="Franklin Gothic Demi" panose="020B0703020102020204" pitchFamily="34" charset="0"/>
              </a:rPr>
              <a:t>Canal Tradicional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AD396DD-C8E6-6B8E-1B8D-C422E16A7E9B}"/>
              </a:ext>
            </a:extLst>
          </p:cNvPr>
          <p:cNvSpPr txBox="1"/>
          <p:nvPr/>
        </p:nvSpPr>
        <p:spPr>
          <a:xfrm>
            <a:off x="6922782" y="3972959"/>
            <a:ext cx="4418665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s-CO"/>
            </a:defPPr>
            <a:lvl1pPr algn="just">
              <a:defRPr sz="1600" b="1">
                <a:latin typeface="+mj-lt"/>
              </a:defRPr>
            </a:lvl1pPr>
          </a:lstStyle>
          <a:p>
            <a:r>
              <a:rPr lang="es-MX" sz="1600" dirty="0"/>
              <a:t>Detalle de novedades: </a:t>
            </a:r>
            <a:endParaRPr lang="es-MX" b="0" dirty="0"/>
          </a:p>
          <a:p>
            <a:r>
              <a:rPr lang="es-MX" b="0" dirty="0"/>
              <a:t>No permiten la ejecucion de la actividad del mes</a:t>
            </a:r>
            <a:r>
              <a:rPr lang="es-MX" dirty="0"/>
              <a:t>:  </a:t>
            </a:r>
          </a:p>
          <a:p>
            <a:r>
              <a:rPr lang="es-MX" b="0" dirty="0"/>
              <a:t>* NUEVA ESTRATEGIA DE BAJA DE PRECIOS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184F035-BAF7-4DC9-EBED-6909BDCE6582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F076188-86C6-21C3-D0E6-3445759ACEF9}"/>
              </a:ext>
            </a:extLst>
          </p:cNvPr>
          <p:cNvSpPr txBox="1"/>
          <p:nvPr/>
        </p:nvSpPr>
        <p:spPr>
          <a:xfrm>
            <a:off x="3196408" y="2532700"/>
            <a:ext cx="37263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4"/>
              </a:rPr>
              <a:t>https://drive.google.com/file/d/1IvgKH4gu8kVkMq1IMPurtEXuT_MfxRZr/view?usp=drive_link</a:t>
            </a:r>
            <a:endParaRPr lang="es-CO" dirty="0"/>
          </a:p>
          <a:p>
            <a:endParaRPr lang="es-CO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4E00FD3-E16E-FE4A-42C5-19E1BA43D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585" y="1636742"/>
            <a:ext cx="3543819" cy="140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95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C513-FD20-5AE7-5E18-842B9C3D6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5270F98-7841-EF25-3F17-83E370D9CD4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9882EA71-6F65-7D41-B8F4-D4C4A6EAB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A5748A5-1668-EB73-F07A-26108C3FA53A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írculo: vacío 25">
            <a:extLst>
              <a:ext uri="{FF2B5EF4-FFF2-40B4-BE49-F238E27FC236}">
                <a16:creationId xmlns:a16="http://schemas.microsoft.com/office/drawing/2014/main" id="{4AC9C63A-C019-8D90-74B2-931CFA309F93}"/>
              </a:ext>
            </a:extLst>
          </p:cNvPr>
          <p:cNvSpPr/>
          <p:nvPr/>
        </p:nvSpPr>
        <p:spPr>
          <a:xfrm>
            <a:off x="748005" y="3697255"/>
            <a:ext cx="994145" cy="1041989"/>
          </a:xfrm>
          <a:prstGeom prst="donut">
            <a:avLst>
              <a:gd name="adj" fmla="val 1617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8" name="Arco de bloque 27">
            <a:extLst>
              <a:ext uri="{FF2B5EF4-FFF2-40B4-BE49-F238E27FC236}">
                <a16:creationId xmlns:a16="http://schemas.microsoft.com/office/drawing/2014/main" id="{76638523-19B3-915B-5D8C-674A7A9CA9C7}"/>
              </a:ext>
            </a:extLst>
          </p:cNvPr>
          <p:cNvSpPr/>
          <p:nvPr/>
        </p:nvSpPr>
        <p:spPr>
          <a:xfrm>
            <a:off x="748005" y="3697255"/>
            <a:ext cx="1010109" cy="1041989"/>
          </a:xfrm>
          <a:prstGeom prst="blockArc">
            <a:avLst>
              <a:gd name="adj1" fmla="val 15423998"/>
              <a:gd name="adj2" fmla="val 15542349"/>
              <a:gd name="adj3" fmla="val 1797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8423806-412A-088B-9430-AF48DB430174}"/>
              </a:ext>
            </a:extLst>
          </p:cNvPr>
          <p:cNvSpPr txBox="1"/>
          <p:nvPr/>
        </p:nvSpPr>
        <p:spPr>
          <a:xfrm>
            <a:off x="959349" y="3987416"/>
            <a:ext cx="681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Franklin Gothic Demi" panose="020B0703020102020204" pitchFamily="34" charset="0"/>
              </a:rPr>
              <a:t>0%</a:t>
            </a:r>
            <a:endParaRPr lang="es-CO" sz="2400" b="1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646F931-7F5A-F3DD-E3A4-14A6C4289404}"/>
              </a:ext>
            </a:extLst>
          </p:cNvPr>
          <p:cNvSpPr txBox="1"/>
          <p:nvPr/>
        </p:nvSpPr>
        <p:spPr>
          <a:xfrm>
            <a:off x="615835" y="4739242"/>
            <a:ext cx="1234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b="1" dirty="0">
                <a:solidFill>
                  <a:schemeClr val="bg1"/>
                </a:solidFill>
                <a:latin typeface="Franklin Gothic Demi" panose="020B0703020102020204" pitchFamily="34" charset="0"/>
              </a:rPr>
              <a:t>Cierre Mystery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Puntaje en Base objetivo calificación/Total calificación</a:t>
            </a:r>
            <a:endParaRPr lang="es-CO" sz="12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25F0A62-0CCB-9768-C8CA-89B98E278468}"/>
              </a:ext>
            </a:extLst>
          </p:cNvPr>
          <p:cNvSpPr txBox="1"/>
          <p:nvPr/>
        </p:nvSpPr>
        <p:spPr>
          <a:xfrm>
            <a:off x="83963" y="3163643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FD78266-31C7-16A6-FC76-E1FFAA3F9CE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259852" y="1964085"/>
            <a:ext cx="463336" cy="46333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38D001C-83C6-38F6-498C-4915B35E5398}"/>
              </a:ext>
            </a:extLst>
          </p:cNvPr>
          <p:cNvSpPr txBox="1"/>
          <p:nvPr/>
        </p:nvSpPr>
        <p:spPr>
          <a:xfrm>
            <a:off x="748005" y="194495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4C5FF2A-B91C-186B-3D4B-C76ECB4B9870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SUPERMERCADO MAXIFRUVER PREMIUM -</a:t>
            </a:r>
            <a:r>
              <a:rPr lang="es-MX" sz="180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Medellín</a:t>
            </a:r>
            <a:r>
              <a:rPr lang="es-MX" dirty="0"/>
              <a:t> </a:t>
            </a:r>
            <a:endParaRPr lang="es-MX" dirty="0">
              <a:latin typeface="Franklin Gothic Demi" panose="020B0703020102020204" pitchFamily="34" charset="0"/>
            </a:endParaRPr>
          </a:p>
          <a:p>
            <a:r>
              <a:rPr lang="es-MX" dirty="0">
                <a:latin typeface="Franklin Gothic Demi" panose="020B0703020102020204" pitchFamily="34" charset="0"/>
              </a:rPr>
              <a:t>Canal Tradicional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654B255-D269-ACBD-3343-65EFECE575EF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88C449-0716-96AD-3B34-F79A73842454}"/>
              </a:ext>
            </a:extLst>
          </p:cNvPr>
          <p:cNvSpPr txBox="1"/>
          <p:nvPr/>
        </p:nvSpPr>
        <p:spPr>
          <a:xfrm>
            <a:off x="3049229" y="3105835"/>
            <a:ext cx="34843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4"/>
              </a:rPr>
              <a:t>https://drive.google.com/file/d/1Lmepepk4kPg63rNJudeei62cTbpcT86m/view?usp=drive_link</a:t>
            </a:r>
            <a:endParaRPr lang="es-CO" dirty="0"/>
          </a:p>
          <a:p>
            <a:endParaRPr lang="es-CO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5C04D03-FD12-A039-F11B-D39A415DC7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809" y="1557725"/>
            <a:ext cx="3439527" cy="152729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BBFA755-0142-7649-A29A-918855F23B9F}"/>
              </a:ext>
            </a:extLst>
          </p:cNvPr>
          <p:cNvSpPr txBox="1"/>
          <p:nvPr/>
        </p:nvSpPr>
        <p:spPr>
          <a:xfrm>
            <a:off x="7638308" y="3867640"/>
            <a:ext cx="380568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b="1" dirty="0"/>
              <a:t>Detalle de novedades: </a:t>
            </a:r>
          </a:p>
          <a:p>
            <a:endParaRPr lang="es-MX" b="1" dirty="0"/>
          </a:p>
          <a:p>
            <a:r>
              <a:rPr lang="es-MX" b="1" dirty="0"/>
              <a:t>Uniforme: </a:t>
            </a:r>
            <a:r>
              <a:rPr lang="es-MX" b="0" dirty="0"/>
              <a:t>Uso de piercing en la nariz. </a:t>
            </a:r>
          </a:p>
        </p:txBody>
      </p:sp>
    </p:spTree>
    <p:extLst>
      <p:ext uri="{BB962C8B-B14F-4D97-AF65-F5344CB8AC3E}">
        <p14:creationId xmlns:p14="http://schemas.microsoft.com/office/powerpoint/2010/main" val="92767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F443-FF28-27BB-D28D-31D4FB0C0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0A45D27-8CCA-A636-391C-8F580CECDCB0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600B8FB9-D1B4-AD44-ACDB-8F76F4072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B58C1CD-2604-964D-68E3-365476E60EF4}"/>
              </a:ext>
            </a:extLst>
          </p:cNvPr>
          <p:cNvCxnSpPr>
            <a:cxnSpLocks/>
          </p:cNvCxnSpPr>
          <p:nvPr/>
        </p:nvCxnSpPr>
        <p:spPr>
          <a:xfrm>
            <a:off x="2877349" y="772861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0EB8DAD-06DA-83DF-1604-2AA0C9BD3EED}"/>
              </a:ext>
            </a:extLst>
          </p:cNvPr>
          <p:cNvSpPr txBox="1"/>
          <p:nvPr/>
        </p:nvSpPr>
        <p:spPr>
          <a:xfrm>
            <a:off x="2877349" y="126530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OLIMPICA STO 053 PORTAL DEL PRADO - </a:t>
            </a:r>
            <a:r>
              <a:rPr lang="es-MX" sz="1800" b="0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Bquilla</a:t>
            </a:r>
            <a:r>
              <a:rPr lang="es-MX" dirty="0"/>
              <a:t> </a:t>
            </a:r>
            <a:endParaRPr lang="es-MX" dirty="0">
              <a:latin typeface="Franklin Gothic Demi" panose="020B0703020102020204" pitchFamily="34" charset="0"/>
            </a:endParaRPr>
          </a:p>
          <a:p>
            <a:r>
              <a:rPr lang="es-MX" dirty="0">
                <a:latin typeface="Franklin Gothic Demi" panose="020B0703020102020204" pitchFamily="34" charset="0"/>
              </a:rPr>
              <a:t>Canal Moderno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3D6B54B-2B4E-0A9E-82C1-4F1089562FEF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7FBD9A6-804F-B7D8-4F1D-A09CA2B44F25}"/>
              </a:ext>
            </a:extLst>
          </p:cNvPr>
          <p:cNvSpPr txBox="1"/>
          <p:nvPr/>
        </p:nvSpPr>
        <p:spPr>
          <a:xfrm>
            <a:off x="3049229" y="3105835"/>
            <a:ext cx="36170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3"/>
              </a:rPr>
              <a:t>https://drive.google.com/file/d/1dJxfoE_vUxSahdw-az_5R2Y84xAeemD7/view?usp=drive_link</a:t>
            </a:r>
            <a:endParaRPr lang="es-CO" dirty="0"/>
          </a:p>
          <a:p>
            <a:endParaRPr lang="es-CO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B3E14C3-3225-85B0-234C-C7A47C647C77}"/>
              </a:ext>
            </a:extLst>
          </p:cNvPr>
          <p:cNvSpPr txBox="1"/>
          <p:nvPr/>
        </p:nvSpPr>
        <p:spPr>
          <a:xfrm>
            <a:off x="8045134" y="2967334"/>
            <a:ext cx="380568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MX" sz="1800" b="0" dirty="0"/>
              <a:t>Se visito el pdv Olimpica quien por ajustes en el horario no se encontró el asesor. </a:t>
            </a:r>
          </a:p>
        </p:txBody>
      </p:sp>
    </p:spTree>
    <p:extLst>
      <p:ext uri="{BB962C8B-B14F-4D97-AF65-F5344CB8AC3E}">
        <p14:creationId xmlns:p14="http://schemas.microsoft.com/office/powerpoint/2010/main" val="511676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E534D02-B8C7-B74F-CB12-01F23F1DF649}"/>
              </a:ext>
            </a:extLst>
          </p:cNvPr>
          <p:cNvSpPr/>
          <p:nvPr/>
        </p:nvSpPr>
        <p:spPr>
          <a:xfrm>
            <a:off x="0" y="0"/>
            <a:ext cx="3047999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5A0D168E-1DD6-DBBA-D591-BCE26B9FE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7" y="1512616"/>
            <a:ext cx="2560659" cy="485171"/>
          </a:xfrm>
          <a:prstGeom prst="rect">
            <a:avLst/>
          </a:prstGeom>
        </p:spPr>
      </p:pic>
      <p:pic>
        <p:nvPicPr>
          <p:cNvPr id="15" name="Imagen 14" descr="Un perro sentado en el suelo&#10;&#10;El contenido generado por IA puede ser incorrecto.">
            <a:extLst>
              <a:ext uri="{FF2B5EF4-FFF2-40B4-BE49-F238E27FC236}">
                <a16:creationId xmlns:a16="http://schemas.microsoft.com/office/drawing/2014/main" id="{5A180245-F026-E164-C1D0-FEAD3A5BE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AD1F5A1-A45B-7474-6EF8-7CEEC5771C78}"/>
              </a:ext>
            </a:extLst>
          </p:cNvPr>
          <p:cNvSpPr txBox="1"/>
          <p:nvPr/>
        </p:nvSpPr>
        <p:spPr>
          <a:xfrm>
            <a:off x="251668" y="2650588"/>
            <a:ext cx="26330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INFORME MENSUAL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MISTERY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- Marzo 2025 - 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772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E282-9F63-9DF6-BA90-42CB173E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155CB5D-BA0C-CAF7-2F0F-4394F9AD5844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F66B9E6-5CEA-0421-DFAD-B5F1900EB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16EE9CB-71E5-9AFE-8E7A-1A74FD75F23B}"/>
              </a:ext>
            </a:extLst>
          </p:cNvPr>
          <p:cNvSpPr txBox="1"/>
          <p:nvPr/>
        </p:nvSpPr>
        <p:spPr>
          <a:xfrm>
            <a:off x="2787898" y="1016734"/>
            <a:ext cx="84956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/>
              <a:t>El mystery shopper de forma critica evaluó KPIS específicos de la gestion a través de una encuesta, en la cual cada pregunta fue clusterizada y punteada de la siguiente manera:</a:t>
            </a:r>
            <a:endParaRPr lang="es-CO" sz="130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3A27C6F-099B-23E2-0FBF-C940DFCE3880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BD11828-949C-D2F6-7826-69821A46DC57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D4B4EC2-2B82-9176-5626-2B64202C2BEA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SHOPPER</a:t>
            </a:r>
          </a:p>
          <a:p>
            <a:r>
              <a:rPr lang="es-MX" sz="1600" dirty="0"/>
              <a:t>Marzo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5A1899-F51E-9451-B8A7-0A68A2BA8466}"/>
              </a:ext>
            </a:extLst>
          </p:cNvPr>
          <p:cNvSpPr txBox="1"/>
          <p:nvPr/>
        </p:nvSpPr>
        <p:spPr>
          <a:xfrm>
            <a:off x="3221939" y="3387408"/>
            <a:ext cx="82842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solidFill>
                  <a:srgbClr val="C00000"/>
                </a:solidFill>
              </a:rPr>
              <a:t>Descripción por  Clúster evaluado</a:t>
            </a:r>
            <a:r>
              <a:rPr lang="es-MX" sz="1200" dirty="0">
                <a:solidFill>
                  <a:srgbClr val="C00000"/>
                </a:solidFill>
              </a:rPr>
              <a:t>:</a:t>
            </a:r>
          </a:p>
          <a:p>
            <a:pPr algn="just"/>
            <a:endParaRPr lang="es-MX" sz="500" dirty="0">
              <a:solidFill>
                <a:srgbClr val="C00000"/>
              </a:solidFill>
            </a:endParaRPr>
          </a:p>
          <a:p>
            <a:pPr algn="just"/>
            <a:r>
              <a:rPr lang="es-MX" sz="1200" b="1" dirty="0"/>
              <a:t>PORTAFOLIO Y MANEJO DE OBJECIONES: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dirty="0"/>
              <a:t>Se debe ofrecer el portafolio de productos secos, húmedos snack u otros. * Comunicar beneficios y atributos de producto.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dirty="0"/>
              <a:t>Capacidad de atención a objeciones del mystery shopper ofreciendo los productos en orden de segmentación.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Especializado:</a:t>
            </a:r>
            <a:r>
              <a:rPr lang="es-MX" sz="1200" dirty="0"/>
              <a:t> Comunica la actividad PRO PLAN y frente a objeción ofrecimiento de Marca Excellent.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Moderno</a:t>
            </a:r>
            <a:r>
              <a:rPr lang="es-MX" sz="1200" dirty="0"/>
              <a:t>: Ofrecimiento de Purina </a:t>
            </a:r>
            <a:r>
              <a:rPr lang="es-MX" sz="1200" dirty="0" err="1"/>
              <a:t>One</a:t>
            </a:r>
            <a:r>
              <a:rPr lang="es-MX" sz="1200" dirty="0"/>
              <a:t>, mención de los resultados en 28 dias, menciona que tiene carne de verdad, producto natural y variedades,.</a:t>
            </a:r>
          </a:p>
          <a:p>
            <a:pPr lvl="1" algn="just"/>
            <a:r>
              <a:rPr lang="es-MX" sz="1200" b="1" dirty="0"/>
              <a:t>ABORDAJE: </a:t>
            </a:r>
            <a:r>
              <a:rPr lang="es-MX" sz="1200" dirty="0"/>
              <a:t>Se debe realizar un abordaje proactivo en pdv (inferior a 3 min) </a:t>
            </a:r>
          </a:p>
          <a:p>
            <a:pPr algn="just"/>
            <a:endParaRPr lang="es-MX" sz="500" dirty="0"/>
          </a:p>
          <a:p>
            <a:pPr algn="just"/>
            <a:r>
              <a:rPr lang="es-MX" sz="1200" b="1" dirty="0"/>
              <a:t>HORARIO: </a:t>
            </a:r>
            <a:r>
              <a:rPr lang="es-MX" sz="1200" dirty="0"/>
              <a:t>El asesor debe estar presente en pdv en los turnos compartidos por malla horaria. </a:t>
            </a:r>
          </a:p>
          <a:p>
            <a:pPr algn="just"/>
            <a:endParaRPr lang="es-MX" sz="500" dirty="0"/>
          </a:p>
          <a:p>
            <a:pPr algn="just"/>
            <a:r>
              <a:rPr lang="es-MX" sz="1200" b="1" dirty="0"/>
              <a:t>LABOR DE VENTA:</a:t>
            </a:r>
            <a:r>
              <a:rPr lang="es-MX" sz="1200" dirty="0"/>
              <a:t> El asesor debe realizar un </a:t>
            </a:r>
            <a:r>
              <a:rPr lang="es-MX" sz="1200" dirty="0" err="1"/>
              <a:t>speech</a:t>
            </a:r>
            <a:r>
              <a:rPr lang="es-MX" sz="1200" dirty="0"/>
              <a:t> que incentive la compra de producto al mystery shopper. </a:t>
            </a:r>
          </a:p>
          <a:p>
            <a:pPr algn="just"/>
            <a:endParaRPr lang="es-MX" sz="500" dirty="0"/>
          </a:p>
          <a:p>
            <a:pPr algn="just"/>
            <a:r>
              <a:rPr lang="es-MX" sz="1200" b="1" dirty="0"/>
              <a:t>UNIFORME: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Cumple con el código de vestimenta, limpios y en buen estado: Pantalón, Camisa, calzado.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Cabello limpio, organizado y recogido.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No exceso de maquillaje, accesorios no propios del uniforme, tatuajes, piercings, uñas desarregladas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8108212-338F-F130-5DF0-136E0231198D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96360" y="2234428"/>
            <a:ext cx="463336" cy="46333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766130D-C1FE-B8C9-11B3-D53624FC41EB}"/>
              </a:ext>
            </a:extLst>
          </p:cNvPr>
          <p:cNvSpPr txBox="1"/>
          <p:nvPr/>
        </p:nvSpPr>
        <p:spPr>
          <a:xfrm>
            <a:off x="884513" y="2215300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3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564634-75F9-4081-C030-4E3BC9D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71543" y="3155740"/>
            <a:ext cx="463336" cy="46333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3BF6B04-47FB-46D1-6390-2C9DA7827E82}"/>
              </a:ext>
            </a:extLst>
          </p:cNvPr>
          <p:cNvSpPr txBox="1"/>
          <p:nvPr/>
        </p:nvSpPr>
        <p:spPr>
          <a:xfrm>
            <a:off x="859696" y="3136612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 err="1">
                <a:solidFill>
                  <a:schemeClr val="bg1"/>
                </a:solidFill>
              </a:rPr>
              <a:t>Medellin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5F441DE-423B-A34D-F752-7A9FDA3E60CB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46726" y="4198491"/>
            <a:ext cx="463336" cy="46333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212B304-DE28-710D-590C-0138E2CAD040}"/>
              </a:ext>
            </a:extLst>
          </p:cNvPr>
          <p:cNvSpPr txBox="1"/>
          <p:nvPr/>
        </p:nvSpPr>
        <p:spPr>
          <a:xfrm>
            <a:off x="834879" y="4179363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5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CB4B897-BD9D-FD79-10CF-D6D3A0F70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340" y="1665366"/>
            <a:ext cx="3794721" cy="149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14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148BC7B-FA01-522B-AFFE-4B9D33C4532B}"/>
              </a:ext>
            </a:extLst>
          </p:cNvPr>
          <p:cNvSpPr/>
          <p:nvPr/>
        </p:nvSpPr>
        <p:spPr>
          <a:xfrm>
            <a:off x="-41188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A941CE4-C805-F56B-8496-B3F3420DAF00}"/>
              </a:ext>
            </a:extLst>
          </p:cNvPr>
          <p:cNvSpPr txBox="1"/>
          <p:nvPr/>
        </p:nvSpPr>
        <p:spPr>
          <a:xfrm>
            <a:off x="207800" y="6260704"/>
            <a:ext cx="2165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>
                <a:solidFill>
                  <a:schemeClr val="bg1"/>
                </a:solidFill>
                <a:latin typeface="Franklin Gothic Demi" panose="020B0703020102020204" pitchFamily="34" charset="0"/>
              </a:rPr>
              <a:t>Informe 1</a:t>
            </a:r>
            <a:endParaRPr lang="es-MX" sz="900">
              <a:solidFill>
                <a:schemeClr val="bg1"/>
              </a:solidFill>
            </a:endParaRPr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0D3349-9D68-E2A3-5D11-A671C433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F0D9E00-62B8-F581-08CE-1657F389A062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8923BB3-648E-8035-B4BA-B1B176CC9BA6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17A915-85AE-5FA2-8B73-8C6D4927CC78}"/>
              </a:ext>
            </a:extLst>
          </p:cNvPr>
          <p:cNvSpPr txBox="1"/>
          <p:nvPr/>
        </p:nvSpPr>
        <p:spPr>
          <a:xfrm>
            <a:off x="2832890" y="1046118"/>
            <a:ext cx="8652072" cy="6924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/>
              <a:t>Se logra impactar el panel propuesto de 16  pdv con 11 mystery efectivo.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/>
              <a:t>Detalle de la ejecución por ciudad de acuerdo con los objetivos propuestos:</a:t>
            </a:r>
            <a:br>
              <a:rPr lang="es-MX" sz="1300" dirty="0"/>
            </a:br>
            <a:endParaRPr lang="es-MX" sz="13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54A186A-8BB1-885B-9A38-62E4927CA8C1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SHOPPER</a:t>
            </a:r>
          </a:p>
          <a:p>
            <a:r>
              <a:rPr lang="es-MX" sz="1600" dirty="0"/>
              <a:t>Marzo</a:t>
            </a:r>
            <a:endParaRPr lang="es-CO" sz="16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BFD5C63-9190-FCFB-F015-5ECE2AE5FF00}"/>
              </a:ext>
            </a:extLst>
          </p:cNvPr>
          <p:cNvSpPr txBox="1"/>
          <p:nvPr/>
        </p:nvSpPr>
        <p:spPr>
          <a:xfrm>
            <a:off x="2857088" y="2787039"/>
            <a:ext cx="8495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Detalle PDV con cobertura, </a:t>
            </a:r>
            <a:r>
              <a:rPr lang="es-MX" sz="1400" b="1" dirty="0">
                <a:solidFill>
                  <a:srgbClr val="FF0000"/>
                </a:solidFill>
              </a:rPr>
              <a:t>SIN MYSTERY EFECTIVO</a:t>
            </a:r>
            <a:r>
              <a:rPr lang="es-MX" sz="1400" b="1" dirty="0"/>
              <a:t>: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7F069D7-D284-487B-2E0C-9D99EE9A5E72}"/>
              </a:ext>
            </a:extLst>
          </p:cNvPr>
          <p:cNvSpPr txBox="1"/>
          <p:nvPr/>
        </p:nvSpPr>
        <p:spPr>
          <a:xfrm>
            <a:off x="2857088" y="4507938"/>
            <a:ext cx="3489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Detalle PDV con realización del mystery: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BA03E2B-7181-6007-8E06-3C9ED6A4EE1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96360" y="2234428"/>
            <a:ext cx="463336" cy="4633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7F6691E-6ED7-7441-AE73-1B196BBBAF01}"/>
              </a:ext>
            </a:extLst>
          </p:cNvPr>
          <p:cNvSpPr txBox="1"/>
          <p:nvPr/>
        </p:nvSpPr>
        <p:spPr>
          <a:xfrm>
            <a:off x="884513" y="2215300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4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4281873-E675-71AC-D4AB-3B4F33AC98E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71543" y="3155740"/>
            <a:ext cx="463336" cy="46333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6C256FC-ED2C-DF82-8844-BC8DD744B4E6}"/>
              </a:ext>
            </a:extLst>
          </p:cNvPr>
          <p:cNvSpPr txBox="1"/>
          <p:nvPr/>
        </p:nvSpPr>
        <p:spPr>
          <a:xfrm>
            <a:off x="859696" y="3136612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 err="1">
                <a:solidFill>
                  <a:schemeClr val="bg1"/>
                </a:solidFill>
              </a:rPr>
              <a:t>Medellin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A9B6B6F-A8CC-B582-D42C-2E66FB7559F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46726" y="4198491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4D3B57D2-A390-B263-67C3-6E934B44443D}"/>
              </a:ext>
            </a:extLst>
          </p:cNvPr>
          <p:cNvSpPr txBox="1"/>
          <p:nvPr/>
        </p:nvSpPr>
        <p:spPr>
          <a:xfrm>
            <a:off x="834879" y="4179363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6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BDB26C1-E11D-5C02-B202-B9CA6BCE0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039" y="1602731"/>
            <a:ext cx="6609968" cy="104495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17A4D1F-9499-B5D4-06DC-E983B778F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0322" y="4656329"/>
            <a:ext cx="4413752" cy="200111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276944E-737E-F465-7A3C-D6A01293F8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223" y="3108354"/>
            <a:ext cx="594360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3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3BB59-6F95-ACA7-F6A3-03A90C64B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DAD8D4D-92EC-8251-7521-7AC3DDA41FB1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9B10D5AC-69E4-6545-8A99-0D431BC41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089861"/>
            <a:ext cx="2560659" cy="485171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3CF6D08-E4E3-66F9-5889-B4502399B487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4B3AD1F-D607-BE1B-3508-F6F4A2648F08}"/>
              </a:ext>
            </a:extLst>
          </p:cNvPr>
          <p:cNvSpPr txBox="1"/>
          <p:nvPr/>
        </p:nvSpPr>
        <p:spPr>
          <a:xfrm>
            <a:off x="2836378" y="117647"/>
            <a:ext cx="4288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/>
              <a:t>INFORME DE IMPULSO </a:t>
            </a:r>
          </a:p>
          <a:p>
            <a:r>
              <a:rPr lang="es-MX" sz="2000" b="1" dirty="0"/>
              <a:t>Marzo 2025</a:t>
            </a:r>
            <a:endParaRPr lang="es-CO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FA6177B-1C8F-77AF-0EEC-FF31C73A60BB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270230" y="1834967"/>
            <a:ext cx="1000316" cy="100031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741CCE3-A2F0-C75B-2695-53F2C71ABBFC}"/>
              </a:ext>
            </a:extLst>
          </p:cNvPr>
          <p:cNvSpPr txBox="1"/>
          <p:nvPr/>
        </p:nvSpPr>
        <p:spPr>
          <a:xfrm>
            <a:off x="5672783" y="2042737"/>
            <a:ext cx="181432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/>
              <a:t> 16 PDV VISITADOS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546795-832D-6F06-1FD6-114603C8D61B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4320514" y="3245922"/>
            <a:ext cx="1080966" cy="83687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F47B6CB-1FFF-E256-3B60-80F96E2E701A}"/>
              </a:ext>
            </a:extLst>
          </p:cNvPr>
          <p:cNvSpPr txBox="1"/>
          <p:nvPr/>
        </p:nvSpPr>
        <p:spPr>
          <a:xfrm>
            <a:off x="5672783" y="3341197"/>
            <a:ext cx="181432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/>
              <a:t> 16 PDV EJECUTADOS EFECTIVOS</a:t>
            </a:r>
            <a:endParaRPr lang="es-CO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06051F-E137-C87F-D99B-899CB47D7F8C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7758413" y="3034880"/>
            <a:ext cx="1262184" cy="1262184"/>
          </a:xfrm>
          <a:prstGeom prst="rect">
            <a:avLst/>
          </a:prstGeom>
        </p:spPr>
      </p:pic>
      <p:sp>
        <p:nvSpPr>
          <p:cNvPr id="30" name="Círculo: vacío 29">
            <a:extLst>
              <a:ext uri="{FF2B5EF4-FFF2-40B4-BE49-F238E27FC236}">
                <a16:creationId xmlns:a16="http://schemas.microsoft.com/office/drawing/2014/main" id="{48138507-00D0-E0EF-947B-6D4BADA71443}"/>
              </a:ext>
            </a:extLst>
          </p:cNvPr>
          <p:cNvSpPr/>
          <p:nvPr/>
        </p:nvSpPr>
        <p:spPr>
          <a:xfrm>
            <a:off x="4276401" y="4433207"/>
            <a:ext cx="994145" cy="1041989"/>
          </a:xfrm>
          <a:prstGeom prst="donut">
            <a:avLst>
              <a:gd name="adj" fmla="val 1392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1" name="Arco de bloque 30">
            <a:extLst>
              <a:ext uri="{FF2B5EF4-FFF2-40B4-BE49-F238E27FC236}">
                <a16:creationId xmlns:a16="http://schemas.microsoft.com/office/drawing/2014/main" id="{3FB193F4-2FBA-DE34-9672-5BE6EC68FB6F}"/>
              </a:ext>
            </a:extLst>
          </p:cNvPr>
          <p:cNvSpPr/>
          <p:nvPr/>
        </p:nvSpPr>
        <p:spPr>
          <a:xfrm>
            <a:off x="4287946" y="4433207"/>
            <a:ext cx="992562" cy="1041989"/>
          </a:xfrm>
          <a:prstGeom prst="blockArc">
            <a:avLst>
              <a:gd name="adj1" fmla="val 15973888"/>
              <a:gd name="adj2" fmla="val 9422725"/>
              <a:gd name="adj3" fmla="val 12406"/>
            </a:avLst>
          </a:prstGeom>
          <a:ln>
            <a:solidFill>
              <a:schemeClr val="tx1"/>
            </a:solidFill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91440" bIns="91440" rtlCol="0" anchor="ctr">
            <a:noAutofit/>
          </a:bodyPr>
          <a:lstStyle/>
          <a:p>
            <a:pPr algn="ctr"/>
            <a:endParaRPr lang="es-CO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5CF82E9-803D-78A7-6EE6-D761E7236721}"/>
              </a:ext>
            </a:extLst>
          </p:cNvPr>
          <p:cNvSpPr txBox="1"/>
          <p:nvPr/>
        </p:nvSpPr>
        <p:spPr>
          <a:xfrm>
            <a:off x="4397744" y="4723368"/>
            <a:ext cx="9265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 dirty="0">
                <a:latin typeface="Franklin Gothic Demi"/>
              </a:rPr>
              <a:t>87%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5EFF196-6B09-2BA0-10C6-A9CA97CECD06}"/>
              </a:ext>
            </a:extLst>
          </p:cNvPr>
          <p:cNvSpPr txBox="1"/>
          <p:nvPr/>
        </p:nvSpPr>
        <p:spPr>
          <a:xfrm>
            <a:off x="5672783" y="4538702"/>
            <a:ext cx="1964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/>
              <a:t>CALIFICACION CIERRE MYSTERY</a:t>
            </a:r>
            <a:br>
              <a:rPr lang="es-MX"/>
            </a:br>
            <a:endParaRPr lang="es-CO" b="1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B7CC1DA-AA9D-2D01-25C7-BAC063BC4F53}"/>
              </a:ext>
            </a:extLst>
          </p:cNvPr>
          <p:cNvSpPr txBox="1"/>
          <p:nvPr/>
        </p:nvSpPr>
        <p:spPr>
          <a:xfrm>
            <a:off x="9183985" y="3202696"/>
            <a:ext cx="196402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/>
              <a:t>11  MISTERY´S REALIZADOS EFECTIVOS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458472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n 35">
            <a:extLst>
              <a:ext uri="{FF2B5EF4-FFF2-40B4-BE49-F238E27FC236}">
                <a16:creationId xmlns:a16="http://schemas.microsoft.com/office/drawing/2014/main" id="{855666B4-0BF9-61E9-D793-33E74A79E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396" y="2764937"/>
            <a:ext cx="4942040" cy="120517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148BC7B-FA01-522B-AFFE-4B9D33C4532B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0D3349-9D68-E2A3-5D11-A671C433F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8E46499-D46B-C1F8-52AE-10C2A0EC5845}"/>
              </a:ext>
            </a:extLst>
          </p:cNvPr>
          <p:cNvSpPr txBox="1"/>
          <p:nvPr/>
        </p:nvSpPr>
        <p:spPr>
          <a:xfrm>
            <a:off x="2902158" y="748310"/>
            <a:ext cx="8572533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300" dirty="0"/>
              <a:t>Evaluando  pdv se obtiene un resultado del Mystery de un 87 </a:t>
            </a:r>
            <a:r>
              <a:rPr lang="es-MX" sz="1300" b="1" dirty="0"/>
              <a:t>%</a:t>
            </a:r>
            <a:r>
              <a:rPr lang="es-MX" sz="1300" dirty="0"/>
              <a:t> frente a los KPIS propuestos de gestión. Donde los clúster con oportunidad esta en temas de portafolio y labor de venta. </a:t>
            </a:r>
            <a:endParaRPr lang="es-CO" sz="130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0612E95-AE01-9B17-0E21-5EE5B44125E7}"/>
              </a:ext>
            </a:extLst>
          </p:cNvPr>
          <p:cNvCxnSpPr>
            <a:cxnSpLocks/>
          </p:cNvCxnSpPr>
          <p:nvPr/>
        </p:nvCxnSpPr>
        <p:spPr>
          <a:xfrm>
            <a:off x="2877350" y="66927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17A6D0F-35FB-EDAC-70F0-45EE2E8B3408}"/>
              </a:ext>
            </a:extLst>
          </p:cNvPr>
          <p:cNvSpPr/>
          <p:nvPr/>
        </p:nvSpPr>
        <p:spPr>
          <a:xfrm>
            <a:off x="9531626" y="486320"/>
            <a:ext cx="2335696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RESULTADOS OBTENIDOS</a:t>
            </a:r>
            <a:endParaRPr lang="es-CO" sz="1400" b="1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88ED2A4-2DAA-EC7D-CD02-DB70F5C1796C}"/>
              </a:ext>
            </a:extLst>
          </p:cNvPr>
          <p:cNvSpPr txBox="1"/>
          <p:nvPr/>
        </p:nvSpPr>
        <p:spPr>
          <a:xfrm>
            <a:off x="2990334" y="5831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PURINA</a:t>
            </a:r>
          </a:p>
          <a:p>
            <a:r>
              <a:rPr lang="es-MX" sz="1600" dirty="0"/>
              <a:t>Marzo</a:t>
            </a:r>
            <a:endParaRPr lang="es-CO" sz="16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8063B67-3175-923E-34E7-99003649E402}"/>
              </a:ext>
            </a:extLst>
          </p:cNvPr>
          <p:cNvSpPr txBox="1"/>
          <p:nvPr/>
        </p:nvSpPr>
        <p:spPr>
          <a:xfrm>
            <a:off x="707038" y="2020698"/>
            <a:ext cx="181432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11 pdv evaluados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Total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C9A7ABC-15F6-EFC6-8FF0-00372A881F5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207800" y="2064390"/>
            <a:ext cx="463336" cy="463336"/>
          </a:xfrm>
          <a:prstGeom prst="rect">
            <a:avLst/>
          </a:prstGeom>
        </p:spPr>
      </p:pic>
      <p:sp>
        <p:nvSpPr>
          <p:cNvPr id="26" name="Círculo: vacío 25">
            <a:extLst>
              <a:ext uri="{FF2B5EF4-FFF2-40B4-BE49-F238E27FC236}">
                <a16:creationId xmlns:a16="http://schemas.microsoft.com/office/drawing/2014/main" id="{FD40FAE1-7978-8DCD-CB20-22231DDC7615}"/>
              </a:ext>
            </a:extLst>
          </p:cNvPr>
          <p:cNvSpPr/>
          <p:nvPr/>
        </p:nvSpPr>
        <p:spPr>
          <a:xfrm>
            <a:off x="748005" y="3697255"/>
            <a:ext cx="994145" cy="1041989"/>
          </a:xfrm>
          <a:prstGeom prst="donut">
            <a:avLst>
              <a:gd name="adj" fmla="val 1617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8" name="Arco de bloque 27">
            <a:extLst>
              <a:ext uri="{FF2B5EF4-FFF2-40B4-BE49-F238E27FC236}">
                <a16:creationId xmlns:a16="http://schemas.microsoft.com/office/drawing/2014/main" id="{396A575C-B3C9-54B1-5FBA-72D59F445824}"/>
              </a:ext>
            </a:extLst>
          </p:cNvPr>
          <p:cNvSpPr/>
          <p:nvPr/>
        </p:nvSpPr>
        <p:spPr>
          <a:xfrm>
            <a:off x="748005" y="3697255"/>
            <a:ext cx="1010109" cy="1041989"/>
          </a:xfrm>
          <a:prstGeom prst="blockArc">
            <a:avLst>
              <a:gd name="adj1" fmla="val 15973888"/>
              <a:gd name="adj2" fmla="val 7764043"/>
              <a:gd name="adj3" fmla="val 174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DDA9517-13BA-FD7C-D421-287A572F0437}"/>
              </a:ext>
            </a:extLst>
          </p:cNvPr>
          <p:cNvSpPr txBox="1"/>
          <p:nvPr/>
        </p:nvSpPr>
        <p:spPr>
          <a:xfrm>
            <a:off x="882986" y="3987416"/>
            <a:ext cx="85916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Franklin Gothic Demi"/>
              </a:rPr>
              <a:t>87%</a:t>
            </a:r>
            <a:endParaRPr lang="es-CO" sz="24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B2138D5-5A17-33F2-3955-097D717BD3DD}"/>
              </a:ext>
            </a:extLst>
          </p:cNvPr>
          <p:cNvSpPr txBox="1"/>
          <p:nvPr/>
        </p:nvSpPr>
        <p:spPr>
          <a:xfrm>
            <a:off x="615835" y="4739242"/>
            <a:ext cx="1234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b="1" dirty="0">
                <a:solidFill>
                  <a:schemeClr val="bg1"/>
                </a:solidFill>
                <a:latin typeface="Franklin Gothic Demi" panose="020B0703020102020204" pitchFamily="34" charset="0"/>
              </a:rPr>
              <a:t>Cierre Mystery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  <a:latin typeface="Franklin Gothic Demi" panose="020B0703020102020204" pitchFamily="34" charset="0"/>
              </a:rPr>
              <a:t>Puntaje en Base objetivo calificación/Total calificación</a:t>
            </a:r>
            <a:endParaRPr lang="es-CO" sz="1200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677705F-285C-BC80-D5A1-1A5A9E491B60}"/>
              </a:ext>
            </a:extLst>
          </p:cNvPr>
          <p:cNvSpPr txBox="1"/>
          <p:nvPr/>
        </p:nvSpPr>
        <p:spPr>
          <a:xfrm>
            <a:off x="83963" y="3163643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7BA7F248-4154-5DBD-2F41-565B0C8AAA76}"/>
              </a:ext>
            </a:extLst>
          </p:cNvPr>
          <p:cNvSpPr txBox="1"/>
          <p:nvPr/>
        </p:nvSpPr>
        <p:spPr>
          <a:xfrm>
            <a:off x="8280921" y="1633810"/>
            <a:ext cx="3744595" cy="249299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dirty="0"/>
              <a:t>El principal reto es mejorar la comunicación de beneficios y objeciones del portafolio, especialmente en Bogotá. Además, se debe reforzar el cierre de ventas y asegurar el cumplimiento de normas de vestimenta (se evidencia el uso de accesorios no permitidos, tatuajes/piercing visibles o prendas no autorizadas).</a:t>
            </a:r>
          </a:p>
          <a:p>
            <a:pPr algn="just"/>
            <a:r>
              <a:rPr lang="es-MX" sz="1200" b="1" dirty="0"/>
              <a:t>Cierre de venta</a:t>
            </a:r>
            <a:r>
              <a:rPr lang="es-MX" sz="1200" dirty="0"/>
              <a:t>: Los asesores no usan frases clave para incentivar la compra, lo que afecta la conversión de clientes.</a:t>
            </a:r>
          </a:p>
          <a:p>
            <a:pPr algn="just"/>
            <a:r>
              <a:rPr lang="es-MX" sz="1200" b="1" dirty="0"/>
              <a:t>Portafolio:</a:t>
            </a:r>
            <a:r>
              <a:rPr lang="es-MX" sz="1200" dirty="0"/>
              <a:t> Las preguntas más falladas están relacionadas con la comunicación de promociones, beneficios de productos y manejo de objeciones.</a:t>
            </a:r>
            <a:endParaRPr lang="es-MX" sz="1200" dirty="0">
              <a:highlight>
                <a:srgbClr val="FFFF00"/>
              </a:highlight>
              <a:latin typeface="+mj-lt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BB73F96-0958-3048-DD10-536D57896BF9}"/>
              </a:ext>
            </a:extLst>
          </p:cNvPr>
          <p:cNvSpPr/>
          <p:nvPr/>
        </p:nvSpPr>
        <p:spPr>
          <a:xfrm>
            <a:off x="6219018" y="3502671"/>
            <a:ext cx="694268" cy="149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5F812CE-C3AD-A586-D46A-0FD5F5CEBDB0}"/>
              </a:ext>
            </a:extLst>
          </p:cNvPr>
          <p:cNvSpPr/>
          <p:nvPr/>
        </p:nvSpPr>
        <p:spPr>
          <a:xfrm>
            <a:off x="4639460" y="3652415"/>
            <a:ext cx="694268" cy="118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616FD0A-A005-0312-32C2-79681C20EF78}"/>
              </a:ext>
            </a:extLst>
          </p:cNvPr>
          <p:cNvSpPr/>
          <p:nvPr/>
        </p:nvSpPr>
        <p:spPr>
          <a:xfrm>
            <a:off x="5460149" y="3513338"/>
            <a:ext cx="694268" cy="247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86D749FF-5059-AD6E-86BE-CAA48F4F9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2158" y="1394269"/>
            <a:ext cx="4942039" cy="1201246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1F32A037-D8C7-5081-7625-1D70DB6704DF}"/>
              </a:ext>
            </a:extLst>
          </p:cNvPr>
          <p:cNvSpPr/>
          <p:nvPr/>
        </p:nvSpPr>
        <p:spPr>
          <a:xfrm>
            <a:off x="7012407" y="2124603"/>
            <a:ext cx="814678" cy="309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E3212C8A-54B3-22B3-8C54-D9D7EFC6DE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7396" y="4163943"/>
            <a:ext cx="9128120" cy="231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3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0A1F5-BA2C-87A9-7067-4ED8202B6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A6747EF-4906-2603-C69D-58503E3D4DC3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89C68833-2E38-0230-C1F2-011079922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11B0196-6D1C-AA72-D075-109CDA1FE937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165D408B-AC6B-609B-FEBE-219986426F61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PLAZA PETS S.A.S. </a:t>
            </a:r>
            <a:r>
              <a:rPr lang="es-MX" sz="1800" dirty="0"/>
              <a:t>- 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0B62995-98C2-4E5B-EDA7-254986BCFA49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E2063A4-4852-0F3F-EFE5-2FABE52E56E3}"/>
              </a:ext>
            </a:extLst>
          </p:cNvPr>
          <p:cNvSpPr txBox="1"/>
          <p:nvPr/>
        </p:nvSpPr>
        <p:spPr>
          <a:xfrm>
            <a:off x="3091753" y="3027787"/>
            <a:ext cx="431296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https://drive.google.com/file/d/1J2RwmsEJ6KQmRNb4NJ7km3iHKWuB674K/view?usp=drive_link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s-CO" sz="1400" dirty="0"/>
              <a:t> </a:t>
            </a:r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4"/>
              </a:rPr>
              <a:t>https://drive.google.com/file/d/1UxBUCpGIs7Js5jgt8W_Vt0Uyo2foAmzm/view?usp=drive_link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s-CO" sz="1400" dirty="0"/>
              <a:t> </a:t>
            </a:r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5"/>
              </a:rPr>
              <a:t>https://drive.google.com/file/d/12Aco7R0rMEmkXd65a55WkdCQv_3STEF1/view?usp=drive_link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s-CO" sz="1400" dirty="0"/>
              <a:t> </a:t>
            </a:r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6"/>
              </a:rPr>
              <a:t>https://drive.google.com/file/d/1L94Xal8rBSqMOSN_gaUUukC8a2IRCnBt/view?usp=drive_link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2AF777-BED1-583A-F1E6-FE98022187DD}"/>
              </a:ext>
            </a:extLst>
          </p:cNvPr>
          <p:cNvSpPr txBox="1"/>
          <p:nvPr/>
        </p:nvSpPr>
        <p:spPr>
          <a:xfrm>
            <a:off x="8022606" y="1260152"/>
            <a:ext cx="3805688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+mj-lt"/>
              </a:rPr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r>
              <a:rPr lang="es-MX" sz="1600" b="1" dirty="0">
                <a:latin typeface="+mj-lt"/>
              </a:rPr>
              <a:t>Uniforme: </a:t>
            </a:r>
            <a:r>
              <a:rPr lang="es-MX" sz="1600" b="0" dirty="0">
                <a:latin typeface="+mj-lt"/>
              </a:rPr>
              <a:t>Buso de mangas por debajo del uniforme y uso de accesorios no propios del uniforme (manilla).</a:t>
            </a:r>
          </a:p>
          <a:p>
            <a:endParaRPr lang="es-MX" sz="1600" b="1" dirty="0">
              <a:latin typeface="+mj-lt"/>
            </a:endParaRPr>
          </a:p>
          <a:p>
            <a:r>
              <a:rPr lang="es-MX" sz="1600" b="1" dirty="0">
                <a:latin typeface="+mj-lt"/>
              </a:rPr>
              <a:t>Manejo de objeciones: </a:t>
            </a:r>
            <a:r>
              <a:rPr lang="es-MX" sz="1600" b="0" dirty="0">
                <a:latin typeface="+mj-lt"/>
              </a:rPr>
              <a:t>No se evidencia proactividad y/o dinamismo de la asesora en atención de las objeciones y falta profundización en los beneficios de producto. </a:t>
            </a:r>
          </a:p>
          <a:p>
            <a:endParaRPr lang="es-MX" sz="1600" b="0" dirty="0">
              <a:latin typeface="+mj-lt"/>
            </a:endParaRPr>
          </a:p>
          <a:p>
            <a:r>
              <a:rPr lang="es-MX" sz="1600" b="1" dirty="0">
                <a:latin typeface="+mj-lt"/>
              </a:rPr>
              <a:t>Labor de venta: </a:t>
            </a:r>
            <a:r>
              <a:rPr lang="es-MX" sz="1600" b="0" dirty="0">
                <a:latin typeface="+mj-lt"/>
              </a:rPr>
              <a:t>No incentiva la venta con frases clave.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2CB1F39-AE8D-1CF2-8C08-827F2F6FC71A}"/>
              </a:ext>
            </a:extLst>
          </p:cNvPr>
          <p:cNvSpPr txBox="1"/>
          <p:nvPr/>
        </p:nvSpPr>
        <p:spPr>
          <a:xfrm>
            <a:off x="8216307" y="5536166"/>
            <a:ext cx="380568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No tiene </a:t>
            </a:r>
            <a:r>
              <a:rPr lang="es-CO" sz="1600" dirty="0" err="1">
                <a:solidFill>
                  <a:srgbClr val="FF0000"/>
                </a:solidFill>
              </a:rPr>
              <a:t>Multiprice</a:t>
            </a:r>
            <a:r>
              <a:rPr lang="es-CO" sz="1600" dirty="0"/>
              <a:t>  ni </a:t>
            </a:r>
            <a:r>
              <a:rPr lang="es-CO" sz="1600" dirty="0">
                <a:solidFill>
                  <a:srgbClr val="FF0000"/>
                </a:solidFill>
              </a:rPr>
              <a:t>Gana al Instante </a:t>
            </a:r>
            <a:r>
              <a:rPr lang="es-CO" sz="1600" dirty="0"/>
              <a:t>activo</a:t>
            </a:r>
            <a:endParaRPr lang="es-MX" sz="1600" b="0" dirty="0">
              <a:latin typeface="+mj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77790EE-D482-E54E-8201-EB0FADB9B7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1753" y="1175598"/>
            <a:ext cx="432435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32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2952-CEA5-951C-9199-D0F42B5DB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3AA2379-C49A-40FA-9945-2F2C1B3462AC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30E2A7E9-92FB-1079-C4C5-44AA69626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71CEC5A-D5B5-03CF-4980-01896B06B9E1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644BDCA9-2876-7713-D4AD-8FFE2E0B8B0B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CONCENTRADOS EL RANCHO LTDA DROGUERIA VETERINARIA </a:t>
            </a:r>
            <a:r>
              <a:rPr lang="es-MX" sz="1800" dirty="0"/>
              <a:t>- 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D63C17C-2BB4-F6F7-8DE1-1793234DF851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D770501-E6E1-9A62-19AC-5020EA09D1EF}"/>
              </a:ext>
            </a:extLst>
          </p:cNvPr>
          <p:cNvSpPr txBox="1"/>
          <p:nvPr/>
        </p:nvSpPr>
        <p:spPr>
          <a:xfrm>
            <a:off x="3037335" y="2684980"/>
            <a:ext cx="43650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https://drive.google.com/file/d/1HG3zfZkUZ2oCgxhI19idftU6LHRpxQQ6/view?usp=drive_link</a:t>
            </a:r>
            <a:endParaRPr lang="es-CO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s-CO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4"/>
              </a:rPr>
              <a:t>https://drive.google.com/file/d/10Can88WBFtYz8-FLEJcjIlKIMafZT5_8/view?usp=drive_link</a:t>
            </a:r>
            <a:endParaRPr lang="es-CO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s-CO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5"/>
              </a:rPr>
              <a:t>https://drive.google.com/file/d/10RW1DRakbwUhhm7M7sRADCK7qOQXi0X0/view?usp=drive_link</a:t>
            </a:r>
            <a:endParaRPr lang="es-CO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s-CO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6"/>
              </a:rPr>
              <a:t>https://drive.google.com/file/d/1YL9UpMHiJTilf4jzMehw7t6hVkBuwvYS/view?usp=drive_link</a:t>
            </a:r>
            <a:endParaRPr lang="es-CO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s-CO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7"/>
              </a:rPr>
              <a:t>https://drive.google.com/file/d/1KXz_TUilebE10jKM4xcsJpv_-jFdbXd3/view?usp=drive_link</a:t>
            </a:r>
            <a:endParaRPr lang="es-CO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s-CO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8"/>
              </a:rPr>
              <a:t>https://drive.google.com/file/d/1HaJ-7XVtVzU6iLyoWfcZ8bqnS249fYHA/view?usp=drive_link</a:t>
            </a:r>
            <a:endParaRPr lang="es-CO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s-CO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9"/>
              </a:rPr>
              <a:t>https://drive.google.com/file/d/1X2kM8aKfRG6IDESM5kWFdyJYXT3MfSms/view?usp=drive_link</a:t>
            </a:r>
            <a:endParaRPr lang="es-CO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2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EA26E1E-4ACA-672A-001E-BC93500F1F11}"/>
              </a:ext>
            </a:extLst>
          </p:cNvPr>
          <p:cNvSpPr txBox="1"/>
          <p:nvPr/>
        </p:nvSpPr>
        <p:spPr>
          <a:xfrm>
            <a:off x="8061634" y="2128648"/>
            <a:ext cx="380568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/>
          </a:p>
          <a:p>
            <a:r>
              <a:rPr lang="es-MX" sz="1600" b="1" dirty="0"/>
              <a:t>Uniforme</a:t>
            </a:r>
            <a:r>
              <a:rPr lang="es-MX" sz="1600" b="0" dirty="0"/>
              <a:t>: Hace uso de un piercing en la nariz y un moño en su cabello no acordes a los códigos de vestimenta.</a:t>
            </a:r>
          </a:p>
          <a:p>
            <a:endParaRPr lang="es-MX" sz="16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8AB211-EEA6-922F-2D89-1E90786E4DAC}"/>
              </a:ext>
            </a:extLst>
          </p:cNvPr>
          <p:cNvSpPr txBox="1"/>
          <p:nvPr/>
        </p:nvSpPr>
        <p:spPr>
          <a:xfrm>
            <a:off x="8061634" y="4876293"/>
            <a:ext cx="38056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No tiene </a:t>
            </a:r>
            <a:r>
              <a:rPr lang="es-CO" sz="1600" dirty="0">
                <a:solidFill>
                  <a:srgbClr val="FF0000"/>
                </a:solidFill>
              </a:rPr>
              <a:t>Gana al Instante </a:t>
            </a:r>
            <a:r>
              <a:rPr lang="es-CO" sz="1600" dirty="0"/>
              <a:t>activo</a:t>
            </a:r>
            <a:endParaRPr lang="es-MX" sz="1600" b="0"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B8B149E-3831-7E8F-7CB4-F7A5C2A898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2142" y="1024050"/>
            <a:ext cx="3805689" cy="122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534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A7210-679D-18CD-9F65-7B685F8C9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E9444E7-AA2B-F317-27A5-CF0F476A388B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9CDF9384-FF66-04D4-335C-9C8A7A2C7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EBAA5C1-5B91-E3CD-9360-D9C3EF7EA78D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9B9BEE2-E8E1-6BE1-3194-C453921D2054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AGROCAMPO S.A.S.. </a:t>
            </a:r>
            <a:r>
              <a:rPr lang="es-MX" sz="1800" dirty="0"/>
              <a:t>- 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E89FB37-53B5-8995-6520-98FD0E6E58DB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F52B495-AB4B-2C78-3549-FF25FEEF8C6C}"/>
              </a:ext>
            </a:extLst>
          </p:cNvPr>
          <p:cNvSpPr txBox="1"/>
          <p:nvPr/>
        </p:nvSpPr>
        <p:spPr>
          <a:xfrm>
            <a:off x="3049031" y="3105835"/>
            <a:ext cx="37719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https://drive.google.com/file/d/17uyCkyq02OLI43aOGEXZnXc31TDbgnP1/view?usp=drive_link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4B6CAF8-F04D-27DC-728C-12586E742988}"/>
              </a:ext>
            </a:extLst>
          </p:cNvPr>
          <p:cNvSpPr txBox="1"/>
          <p:nvPr/>
        </p:nvSpPr>
        <p:spPr>
          <a:xfrm>
            <a:off x="7665389" y="1789758"/>
            <a:ext cx="380568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b="1" dirty="0"/>
          </a:p>
          <a:p>
            <a:r>
              <a:rPr lang="es-MX" sz="1600" b="1" dirty="0"/>
              <a:t>Labor de venta: </a:t>
            </a:r>
            <a:r>
              <a:rPr lang="es-MX" sz="1600" b="0" dirty="0"/>
              <a:t>No incentiva la venta con frases clave.</a:t>
            </a:r>
            <a:endParaRPr lang="es-MX" sz="1600" b="0" dirty="0">
              <a:highlight>
                <a:srgbClr val="C0C0C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DEFA9C7-9DA3-98B1-BF23-E2FB26E5DAB3}"/>
              </a:ext>
            </a:extLst>
          </p:cNvPr>
          <p:cNvSpPr txBox="1"/>
          <p:nvPr/>
        </p:nvSpPr>
        <p:spPr>
          <a:xfrm>
            <a:off x="7665389" y="3991025"/>
            <a:ext cx="380568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No tiene </a:t>
            </a:r>
            <a:r>
              <a:rPr lang="es-CO" sz="1600" dirty="0" err="1">
                <a:solidFill>
                  <a:srgbClr val="FF0000"/>
                </a:solidFill>
              </a:rPr>
              <a:t>Multiprice</a:t>
            </a:r>
            <a:r>
              <a:rPr lang="es-CO" sz="1600" dirty="0"/>
              <a:t>  ni </a:t>
            </a:r>
            <a:r>
              <a:rPr lang="es-CO" sz="1600" dirty="0">
                <a:solidFill>
                  <a:srgbClr val="FF0000"/>
                </a:solidFill>
              </a:rPr>
              <a:t>Gana al Instante </a:t>
            </a:r>
            <a:r>
              <a:rPr lang="es-CO" sz="1600" dirty="0"/>
              <a:t>activo</a:t>
            </a:r>
            <a:endParaRPr lang="es-MX" sz="1600" b="0" dirty="0">
              <a:latin typeface="+mj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BD4289F-E8F1-B4EB-C807-337D0B0BC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262" y="1271463"/>
            <a:ext cx="3925772" cy="126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64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A120D-2F65-A930-508A-9D888B151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B59730B-B303-B093-420E-3F2CD1C2A9B1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3E417172-169F-36D5-37AD-61C0DFDE0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BCBD0CA-A0A5-8C6A-2D91-DDEF9A038F34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ED136A9A-EE4C-2EF2-19DC-55A397C497B9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HOMECENTER CALLE 80 CR 68. </a:t>
            </a:r>
            <a:r>
              <a:rPr lang="es-MX" sz="1800" dirty="0"/>
              <a:t>- 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C27DEFB-1932-BDA1-638A-CEFA6C48CE87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D0CA726-6ABA-1A1C-BD83-BD1A5FDF33D0}"/>
              </a:ext>
            </a:extLst>
          </p:cNvPr>
          <p:cNvSpPr txBox="1"/>
          <p:nvPr/>
        </p:nvSpPr>
        <p:spPr>
          <a:xfrm>
            <a:off x="3049030" y="3105835"/>
            <a:ext cx="41302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https://drive.google.com/file/d/1l2qkzqvqd-zBG-tnCyPqgnKxCgga0Ac2/view?usp=drive_link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AF87222-8C72-7D03-1784-8E1EA0DAC51D}"/>
              </a:ext>
            </a:extLst>
          </p:cNvPr>
          <p:cNvSpPr txBox="1"/>
          <p:nvPr/>
        </p:nvSpPr>
        <p:spPr>
          <a:xfrm>
            <a:off x="7886594" y="1385036"/>
            <a:ext cx="4130246" cy="3293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b="1" dirty="0"/>
          </a:p>
          <a:p>
            <a:r>
              <a:rPr lang="es-MX" sz="1600" b="1" dirty="0"/>
              <a:t>Uniforme</a:t>
            </a:r>
            <a:r>
              <a:rPr lang="es-MX" sz="1600" b="0" dirty="0"/>
              <a:t>: Se evidencia el uso de piercing en la oreja.</a:t>
            </a:r>
          </a:p>
          <a:p>
            <a:endParaRPr lang="es-MX" sz="1600" b="0" dirty="0"/>
          </a:p>
          <a:p>
            <a:r>
              <a:rPr lang="es-MX" sz="1600" b="1" dirty="0"/>
              <a:t>Portafolio</a:t>
            </a:r>
            <a:r>
              <a:rPr lang="es-MX" sz="1600" dirty="0"/>
              <a:t>: </a:t>
            </a:r>
            <a:r>
              <a:rPr lang="es-MX" sz="1600" b="0" dirty="0"/>
              <a:t>No comunica actividades promocionales (Dinámica de participación, Hoy ganas mañana tambien) y no profundiza en beneficios de producto de purina </a:t>
            </a:r>
            <a:r>
              <a:rPr lang="es-MX" sz="1600" b="0" dirty="0" err="1"/>
              <a:t>One</a:t>
            </a:r>
            <a:r>
              <a:rPr lang="es-MX" sz="1600" b="0" dirty="0"/>
              <a:t> y productos húmedos. </a:t>
            </a:r>
          </a:p>
          <a:p>
            <a:endParaRPr lang="es-MX" sz="1600" b="0" dirty="0"/>
          </a:p>
          <a:p>
            <a:r>
              <a:rPr lang="es-MX" sz="1600" b="1" dirty="0"/>
              <a:t>Labor de venta: </a:t>
            </a:r>
            <a:r>
              <a:rPr lang="es-MX" sz="1600" b="0" dirty="0"/>
              <a:t>No incentiva la venta con frases clave.</a:t>
            </a:r>
            <a:endParaRPr lang="es-MX" sz="1600" b="0" dirty="0">
              <a:highlight>
                <a:srgbClr val="C0C0C0"/>
              </a:highlight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D35C628-D41F-2520-BD91-91ACF519B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960" y="1385036"/>
            <a:ext cx="3603882" cy="116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70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17D45-A8DF-DD13-0E1A-14F41C325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7A3AF1F-C4E5-D04A-438B-30051A2A75C8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71102CCA-0F30-2DDC-9172-27C04A329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FC234DF-E20C-67EA-5BE4-CBA41F771030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495C0B6F-AFEB-6ACA-B6BB-23EF4B7147BA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HOMECENTER AUTOPISTA NORTE BOGOTA. </a:t>
            </a:r>
            <a:r>
              <a:rPr lang="es-MX" sz="1800" dirty="0"/>
              <a:t>- 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24323E4-315B-E765-C94D-E1928CA17F6B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5F0FDAF-0AF0-44D0-AC49-5D14731C5AD8}"/>
              </a:ext>
            </a:extLst>
          </p:cNvPr>
          <p:cNvSpPr txBox="1"/>
          <p:nvPr/>
        </p:nvSpPr>
        <p:spPr>
          <a:xfrm>
            <a:off x="3049030" y="3105835"/>
            <a:ext cx="44268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https://drive.google.com/file/d/1I_83Tcy1Eo5VZlAAc4H1gtgfA175ec6x/view?usp=drive_link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400" dirty="0"/>
          </a:p>
          <a:p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4"/>
              </a:rPr>
              <a:t>https://drive.google.com/file/d/1RRTofXpOTb7vs1iAyZ6mIpFQDUoES8iw/view?usp=drive_link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400" dirty="0"/>
          </a:p>
          <a:p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5"/>
              </a:rPr>
              <a:t>https://drive.google.com/file/d/1tQ6hU_aoKFgSVChhj2wPSCqMtkzRy8eC/view?usp=drive_link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400" dirty="0"/>
          </a:p>
          <a:p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6"/>
              </a:rPr>
              <a:t>https://drive.google.com/file/d/1lHcPHLjFNxjrzwK2wW7URnpdt-mJzTPp/view?usp=drive_link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74B40B-5907-0C0C-8A07-070AAFACB18C}"/>
              </a:ext>
            </a:extLst>
          </p:cNvPr>
          <p:cNvSpPr txBox="1"/>
          <p:nvPr/>
        </p:nvSpPr>
        <p:spPr>
          <a:xfrm>
            <a:off x="7848341" y="1905143"/>
            <a:ext cx="3818475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/>
          </a:p>
          <a:p>
            <a:r>
              <a:rPr lang="es-MX" sz="1600" b="1" dirty="0"/>
              <a:t>Uniforme: </a:t>
            </a:r>
            <a:r>
              <a:rPr lang="es-MX" sz="1600" b="0" dirty="0"/>
              <a:t>Cuenta con una mochila cruzada sobre el uniforme que no cumple con el código de vestimenta. </a:t>
            </a:r>
            <a:endParaRPr lang="es-MX" sz="1600" b="0" dirty="0">
              <a:highlight>
                <a:srgbClr val="C0C0C0"/>
              </a:highlight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8375191-2569-BA1A-F320-771B845F0D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8246" y="1367954"/>
            <a:ext cx="3818475" cy="12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41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D9887-EBDC-1BD3-3B21-C82AB7207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17EE0B9-0A4A-2C07-32B5-A94C198AC670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0BDB1BAB-0B23-3254-CC8C-5EACDB3C3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E952ECC-1332-7614-E94E-486F2EE28D49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45C7A547-8EBD-2051-1FEA-1B86E508459D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DEGANADO NORTE. </a:t>
            </a:r>
            <a:r>
              <a:rPr lang="es-MX" sz="1800" dirty="0"/>
              <a:t>- 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1FCA8FD-BBB0-859C-E4BF-8CE0E059ACC2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9FF9F6F-3373-FC7D-52BD-56F5BCC91E6B}"/>
              </a:ext>
            </a:extLst>
          </p:cNvPr>
          <p:cNvSpPr txBox="1"/>
          <p:nvPr/>
        </p:nvSpPr>
        <p:spPr>
          <a:xfrm>
            <a:off x="3049030" y="3105835"/>
            <a:ext cx="46431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https://drive.google.com/file/d/1t94Yxm3Vf9iuIUp9vKytMJoEDHHmrwf4/view?usp=drive_link</a:t>
            </a:r>
            <a:endParaRPr lang="es-CO" sz="18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CEBA107-A718-277C-D060-2AC766F67792}"/>
              </a:ext>
            </a:extLst>
          </p:cNvPr>
          <p:cNvSpPr txBox="1"/>
          <p:nvPr/>
        </p:nvSpPr>
        <p:spPr>
          <a:xfrm>
            <a:off x="8064668" y="1457844"/>
            <a:ext cx="3818475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/>
          </a:p>
          <a:p>
            <a:r>
              <a:rPr lang="es-MX" sz="1600" b="1" dirty="0"/>
              <a:t>Manejo de objeciones: </a:t>
            </a:r>
            <a:r>
              <a:rPr lang="es-MX" sz="1600" b="0" dirty="0"/>
              <a:t>No menciona productos húmedos.</a:t>
            </a:r>
          </a:p>
          <a:p>
            <a:endParaRPr lang="es-MX" sz="1600" b="0" dirty="0"/>
          </a:p>
          <a:p>
            <a:r>
              <a:rPr lang="es-MX" sz="1600" b="1" dirty="0"/>
              <a:t>Labor de venta: </a:t>
            </a:r>
            <a:r>
              <a:rPr lang="es-MX" sz="1600" b="0" dirty="0"/>
              <a:t>No incentiva la venta con frases clave. </a:t>
            </a:r>
            <a:endParaRPr lang="es-MX" sz="1600" b="0" dirty="0">
              <a:highlight>
                <a:srgbClr val="C0C0C0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62472A0-0F4A-C38C-7ADD-4EFE8FD0C459}"/>
              </a:ext>
            </a:extLst>
          </p:cNvPr>
          <p:cNvSpPr txBox="1"/>
          <p:nvPr/>
        </p:nvSpPr>
        <p:spPr>
          <a:xfrm>
            <a:off x="8045135" y="4815381"/>
            <a:ext cx="380568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No tiene </a:t>
            </a:r>
            <a:r>
              <a:rPr lang="es-CO" sz="1600" dirty="0" err="1">
                <a:solidFill>
                  <a:srgbClr val="FF0000"/>
                </a:solidFill>
              </a:rPr>
              <a:t>Multiprice</a:t>
            </a:r>
            <a:r>
              <a:rPr lang="es-CO" sz="1600" dirty="0"/>
              <a:t>  ni </a:t>
            </a:r>
            <a:r>
              <a:rPr lang="es-CO" sz="1600" dirty="0">
                <a:solidFill>
                  <a:srgbClr val="FF0000"/>
                </a:solidFill>
              </a:rPr>
              <a:t>Gana al Instante </a:t>
            </a:r>
            <a:r>
              <a:rPr lang="es-CO" sz="1600" dirty="0"/>
              <a:t>activo</a:t>
            </a:r>
            <a:endParaRPr lang="es-MX" sz="1600" b="0" dirty="0">
              <a:latin typeface="+mj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6822D8C-204C-62FA-C5C4-24BC945BC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909" y="1394284"/>
            <a:ext cx="433387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750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61C75-CB63-FD77-E356-85071D9C9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AAB862E-9CBB-3C9A-833E-298B3C0F2DFC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5896AB34-6F0A-1EDD-20E2-5322C5F24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1AF51A2-4B66-5162-2445-339F5C874325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E86864C3-64E0-9797-8AC3-6B786A03E9A5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SUPERMASCOTAS CIUDAD JARDIN </a:t>
            </a:r>
            <a:r>
              <a:rPr lang="es-MX" sz="1800" dirty="0"/>
              <a:t>- 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AE4DF79-3F98-D79F-B743-C122D450BDE3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097A6E7-F639-3F27-C8D6-EC5073A1D7FB}"/>
              </a:ext>
            </a:extLst>
          </p:cNvPr>
          <p:cNvSpPr txBox="1"/>
          <p:nvPr/>
        </p:nvSpPr>
        <p:spPr>
          <a:xfrm>
            <a:off x="3049030" y="3105835"/>
            <a:ext cx="44020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https://drive.google.com/file/d/1AEGI8-BxfeO7iR4wNs44BXMumfOQVkp6/view?usp=drive_link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s-CO" sz="1400" dirty="0"/>
              <a:t>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5613FA8-1015-4CAA-2566-63A0D58D659E}"/>
              </a:ext>
            </a:extLst>
          </p:cNvPr>
          <p:cNvSpPr txBox="1"/>
          <p:nvPr/>
        </p:nvSpPr>
        <p:spPr>
          <a:xfrm>
            <a:off x="8032348" y="1734842"/>
            <a:ext cx="3818475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</a:t>
            </a:r>
            <a:r>
              <a:rPr lang="es-MX" sz="1600" dirty="0"/>
              <a:t>: </a:t>
            </a:r>
          </a:p>
          <a:p>
            <a:endParaRPr lang="es-MX" sz="1600" dirty="0"/>
          </a:p>
          <a:p>
            <a:r>
              <a:rPr lang="es-MX" sz="1600" b="1" dirty="0"/>
              <a:t>Uniforme</a:t>
            </a:r>
            <a:r>
              <a:rPr lang="es-MX" sz="1600" b="0" dirty="0"/>
              <a:t>: Uso de un caimán rosado en el uniforme no acorde al código de vestimenta.</a:t>
            </a:r>
          </a:p>
          <a:p>
            <a:endParaRPr lang="es-MX" sz="1600" b="0" dirty="0"/>
          </a:p>
          <a:p>
            <a:r>
              <a:rPr lang="es-MX" sz="1600" b="1" dirty="0"/>
              <a:t>Manejo de objeciones</a:t>
            </a:r>
            <a:r>
              <a:rPr lang="es-MX" sz="1600" dirty="0"/>
              <a:t>: </a:t>
            </a:r>
            <a:r>
              <a:rPr lang="es-MX" sz="1600" b="0" dirty="0"/>
              <a:t>No comunica actividades de gana al instante.</a:t>
            </a:r>
            <a:endParaRPr lang="es-MX" sz="1600" b="0" dirty="0">
              <a:highlight>
                <a:srgbClr val="C0C0C0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5457AB-08F3-9560-C965-C44CE2E89C14}"/>
              </a:ext>
            </a:extLst>
          </p:cNvPr>
          <p:cNvSpPr txBox="1"/>
          <p:nvPr/>
        </p:nvSpPr>
        <p:spPr>
          <a:xfrm>
            <a:off x="8045135" y="4815381"/>
            <a:ext cx="380568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No tiene </a:t>
            </a:r>
            <a:r>
              <a:rPr lang="es-CO" sz="1600" dirty="0" err="1">
                <a:solidFill>
                  <a:srgbClr val="FF0000"/>
                </a:solidFill>
              </a:rPr>
              <a:t>Multiprice</a:t>
            </a:r>
            <a:r>
              <a:rPr lang="es-CO" sz="1600" dirty="0"/>
              <a:t>  ni </a:t>
            </a:r>
            <a:r>
              <a:rPr lang="es-CO" sz="1600" dirty="0">
                <a:solidFill>
                  <a:srgbClr val="FF0000"/>
                </a:solidFill>
              </a:rPr>
              <a:t>Gana al Instante </a:t>
            </a:r>
            <a:r>
              <a:rPr lang="es-CO" sz="1600" dirty="0"/>
              <a:t>activo</a:t>
            </a:r>
            <a:endParaRPr lang="es-MX" sz="1600" b="0"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95C4BE6-573F-7960-FD4E-D08B0B3A7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030" y="1322702"/>
            <a:ext cx="4314825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014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20867-9AE1-4BA4-43AA-A266FACF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8A45CC4-E672-866D-906B-608A491167C5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72CBD1D9-6D09-4F3C-3A1D-6EB1FF234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63352F3-E7EB-462D-78BF-A992683CA8A1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E69D1E24-7A72-F856-9F0E-5F9609DF8C75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 CASA DE LOS TENDEROS </a:t>
            </a:r>
            <a:r>
              <a:rPr lang="es-MX" sz="1800" dirty="0"/>
              <a:t>- 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Tradicional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C72DCF9-7963-4DBE-234D-E99A2C6C3B2E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9D1AE75-2C35-7B16-EA31-05284853962D}"/>
              </a:ext>
            </a:extLst>
          </p:cNvPr>
          <p:cNvSpPr txBox="1"/>
          <p:nvPr/>
        </p:nvSpPr>
        <p:spPr>
          <a:xfrm>
            <a:off x="3049030" y="3105835"/>
            <a:ext cx="39825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https://drive.google.com/file/d/1-NutpgAScNBQoIaJScTeSIhSVYBKvOnr/view?usp=drive_link</a:t>
            </a:r>
            <a:endParaRPr lang="es-CO" sz="16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ABD3C6-10BB-06AA-4BD3-1BFB5D9818AF}"/>
              </a:ext>
            </a:extLst>
          </p:cNvPr>
          <p:cNvSpPr txBox="1"/>
          <p:nvPr/>
        </p:nvSpPr>
        <p:spPr>
          <a:xfrm>
            <a:off x="8032348" y="1457844"/>
            <a:ext cx="3818475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/>
          </a:p>
          <a:p>
            <a:r>
              <a:rPr lang="es-MX" sz="1600" b="1" dirty="0"/>
              <a:t>Manejo de objeciones: </a:t>
            </a:r>
            <a:r>
              <a:rPr lang="es-MX" sz="1600" b="0" dirty="0"/>
              <a:t>No hace ofrecimiento de productos húmedos y sus beneficios.</a:t>
            </a:r>
          </a:p>
          <a:p>
            <a:endParaRPr lang="es-MX" sz="1600" b="0" dirty="0"/>
          </a:p>
          <a:p>
            <a:r>
              <a:rPr lang="es-MX" sz="1600" b="1" dirty="0"/>
              <a:t>Labor de venta: </a:t>
            </a:r>
            <a:r>
              <a:rPr lang="es-MX" sz="1600" b="0" dirty="0"/>
              <a:t>No incentiva la venta con frases clave.</a:t>
            </a:r>
            <a:endParaRPr lang="es-MX" sz="1600" b="0" dirty="0">
              <a:highlight>
                <a:srgbClr val="C0C0C0"/>
              </a:highlight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9EF712E-8766-513A-DCE2-4E1C8C5FA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312" y="1251756"/>
            <a:ext cx="428625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98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43006-BFC0-C1AF-40F0-0D7F6F48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567152A-B126-DC83-A577-4DB409DB05AB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E0F539F0-32F8-807C-2C90-F9ECF1DC4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967A034-CEAF-5627-05ED-D2B4F38C51C9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E626991F-6BA5-0C29-E6B6-9780D411699F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MUNDIAL DE GRANOS Y PANELAS S.A.S </a:t>
            </a:r>
            <a:r>
              <a:rPr lang="es-MX" sz="1800" dirty="0"/>
              <a:t>– Medellín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2470C0F-4F08-23C9-AD3B-8FE76C1F8444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CFD6AA5-4B83-F24F-133C-7E646C0C200A}"/>
              </a:ext>
            </a:extLst>
          </p:cNvPr>
          <p:cNvSpPr txBox="1"/>
          <p:nvPr/>
        </p:nvSpPr>
        <p:spPr>
          <a:xfrm>
            <a:off x="3049030" y="3105835"/>
            <a:ext cx="42908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https://drive.google.com/file/d/1OKHEBXQmDXiS4v0I0kSdTCPZ84Z1vZbp/view?usp=drive_link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CC8CAC7-2F0C-FF35-AB34-9420C4DB4F79}"/>
              </a:ext>
            </a:extLst>
          </p:cNvPr>
          <p:cNvSpPr txBox="1"/>
          <p:nvPr/>
        </p:nvSpPr>
        <p:spPr>
          <a:xfrm>
            <a:off x="8048847" y="1271463"/>
            <a:ext cx="3818475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/>
          </a:p>
          <a:p>
            <a:r>
              <a:rPr lang="es-MX" sz="1600" b="1" dirty="0"/>
              <a:t>Uniforme</a:t>
            </a:r>
            <a:r>
              <a:rPr lang="es-MX" sz="1600" b="0" dirty="0"/>
              <a:t>: Se evidencia un tatuaje en su antebrazo derecho, manilla y cuenta con uñas largas llamativas no acordes al código. </a:t>
            </a:r>
          </a:p>
          <a:p>
            <a:endParaRPr lang="es-MX" sz="1600" b="0" dirty="0"/>
          </a:p>
          <a:p>
            <a:r>
              <a:rPr lang="es-MX" sz="1600" b="1" dirty="0"/>
              <a:t>Portafolio: </a:t>
            </a:r>
            <a:r>
              <a:rPr lang="es-MX" sz="1600" b="0" dirty="0"/>
              <a:t>No comunica actividades promocionales (</a:t>
            </a:r>
            <a:r>
              <a:rPr lang="es-MX" sz="1600" b="0" dirty="0" err="1"/>
              <a:t>Multiprice</a:t>
            </a:r>
            <a:r>
              <a:rPr lang="es-MX" sz="1600" b="0" dirty="0"/>
              <a:t>) y falta profundización en los beneficios de producto – excellent.</a:t>
            </a:r>
          </a:p>
          <a:p>
            <a:endParaRPr lang="es-MX" sz="1600" b="0" dirty="0"/>
          </a:p>
          <a:p>
            <a:r>
              <a:rPr lang="es-MX" sz="1600" b="1" dirty="0"/>
              <a:t>Labor de venta: </a:t>
            </a:r>
            <a:r>
              <a:rPr lang="es-MX" sz="1600" b="0" dirty="0"/>
              <a:t>No incentiva la venta con frases clave.  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EBDAAC-77E8-B89B-A634-6E4C93B3E488}"/>
              </a:ext>
            </a:extLst>
          </p:cNvPr>
          <p:cNvSpPr txBox="1"/>
          <p:nvPr/>
        </p:nvSpPr>
        <p:spPr>
          <a:xfrm>
            <a:off x="8207367" y="5586537"/>
            <a:ext cx="38056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No tiene </a:t>
            </a:r>
            <a:r>
              <a:rPr lang="es-CO" sz="1600" dirty="0">
                <a:solidFill>
                  <a:srgbClr val="FF0000"/>
                </a:solidFill>
              </a:rPr>
              <a:t>Gana al Instante </a:t>
            </a:r>
            <a:r>
              <a:rPr lang="es-CO" sz="1600" dirty="0"/>
              <a:t>activo</a:t>
            </a:r>
            <a:endParaRPr lang="es-MX" sz="1600" b="0" dirty="0">
              <a:latin typeface="+mj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2DF4C61-B294-5DBF-7C2A-19EC07E69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189" y="1293586"/>
            <a:ext cx="427672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113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D43AD-D43C-841C-8487-9EA46932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82BFA180-AB56-BADF-E2A6-6008140DD17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1A439FA1-DED8-E70C-C775-6F2DF5FD9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AAA47B7-ADD8-6863-1C46-8B670DDAF07C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1E27DFF-00F9-81CE-F1F2-0D1C2D55BBA9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PUPPIS CARRERA 15. </a:t>
            </a:r>
            <a:r>
              <a:rPr lang="es-MX" sz="1800" dirty="0"/>
              <a:t>- 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2844DEB-6DFE-FA76-CC8F-3A88C95759F7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54F7C18-2BDF-429E-E65D-782BC530D127}"/>
              </a:ext>
            </a:extLst>
          </p:cNvPr>
          <p:cNvSpPr txBox="1"/>
          <p:nvPr/>
        </p:nvSpPr>
        <p:spPr>
          <a:xfrm>
            <a:off x="3049030" y="3105835"/>
            <a:ext cx="415495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https://drive.google.com/file/d/1NSN6PYCyxB6pHEG-xGpCJY23j3VbSAqC/view?usp=drive_link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400" dirty="0"/>
          </a:p>
          <a:p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4"/>
              </a:rPr>
              <a:t>https://drive.google.com/file/d/1jm67uv-mxUO84GtwnJ9hevxEot9gsJv4/view?usp=drive_link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DD28BA6-CBA5-DF3A-07BE-F07089C12189}"/>
              </a:ext>
            </a:extLst>
          </p:cNvPr>
          <p:cNvSpPr txBox="1"/>
          <p:nvPr/>
        </p:nvSpPr>
        <p:spPr>
          <a:xfrm>
            <a:off x="8019967" y="1385036"/>
            <a:ext cx="3818475" cy="2800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/>
          </a:p>
          <a:p>
            <a:r>
              <a:rPr lang="es-MX" sz="1600" b="1" dirty="0"/>
              <a:t>Uniforme</a:t>
            </a:r>
            <a:r>
              <a:rPr lang="es-MX" sz="1600" b="0" dirty="0"/>
              <a:t>: Uso de accesorios no acordes al código de tipo manilla sobre los guantes.</a:t>
            </a:r>
          </a:p>
          <a:p>
            <a:endParaRPr lang="es-MX" sz="1600" b="0" dirty="0"/>
          </a:p>
          <a:p>
            <a:r>
              <a:rPr lang="es-MX" sz="1600" b="1" dirty="0"/>
              <a:t>Portafolio: </a:t>
            </a:r>
            <a:r>
              <a:rPr lang="es-MX" sz="1600" b="0" dirty="0"/>
              <a:t>No comunica actividades promocionales (</a:t>
            </a:r>
            <a:r>
              <a:rPr lang="es-MX" sz="1600" b="0" dirty="0" err="1"/>
              <a:t>Multiprice</a:t>
            </a:r>
            <a:r>
              <a:rPr lang="es-MX" sz="1600" dirty="0"/>
              <a:t>).</a:t>
            </a:r>
          </a:p>
          <a:p>
            <a:endParaRPr lang="es-MX" sz="1600" b="1" dirty="0"/>
          </a:p>
          <a:p>
            <a:r>
              <a:rPr lang="es-MX" sz="1600" b="1" dirty="0"/>
              <a:t>Labor de venta: </a:t>
            </a:r>
            <a:r>
              <a:rPr lang="es-MX" sz="1600" b="0" dirty="0"/>
              <a:t>No incentiva la venta con frases clave. </a:t>
            </a:r>
            <a:r>
              <a:rPr lang="es-MX" sz="1600" b="0" dirty="0">
                <a:highlight>
                  <a:srgbClr val="C0C0C0"/>
                </a:highlight>
              </a:rPr>
              <a:t> 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98C5649-2110-1375-407D-F8E3061BF05D}"/>
              </a:ext>
            </a:extLst>
          </p:cNvPr>
          <p:cNvSpPr txBox="1"/>
          <p:nvPr/>
        </p:nvSpPr>
        <p:spPr>
          <a:xfrm>
            <a:off x="8207367" y="5586537"/>
            <a:ext cx="38056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No tiene </a:t>
            </a:r>
            <a:r>
              <a:rPr lang="es-CO" sz="1600" dirty="0">
                <a:solidFill>
                  <a:srgbClr val="FF0000"/>
                </a:solidFill>
              </a:rPr>
              <a:t>Gana al Instante </a:t>
            </a:r>
            <a:r>
              <a:rPr lang="es-CO" sz="1600" dirty="0"/>
              <a:t>activo</a:t>
            </a:r>
            <a:endParaRPr lang="es-MX" sz="1600" b="0" dirty="0">
              <a:latin typeface="+mj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E3B69E-80F7-4390-84C5-F03307140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597" y="1271463"/>
            <a:ext cx="4008392" cy="129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8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BBEE2-CBE3-897C-0885-F68AB096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1BA4508-F4F4-7700-9C3E-FEC9F048D010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F8325816-E47C-2742-59FB-A803641F8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0340D79-DAF5-495E-E50F-34BB8A911A24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A4B724FE-5574-B261-8187-CC6CF577C6B3}"/>
              </a:ext>
            </a:extLst>
          </p:cNvPr>
          <p:cNvSpPr txBox="1"/>
          <p:nvPr/>
        </p:nvSpPr>
        <p:spPr>
          <a:xfrm>
            <a:off x="2877350" y="114934"/>
            <a:ext cx="5476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MERCAMIO CALLE 5 </a:t>
            </a:r>
            <a:r>
              <a:rPr lang="es-MX" sz="1800" dirty="0"/>
              <a:t>- </a:t>
            </a:r>
            <a:r>
              <a:rPr lang="es-MX" dirty="0"/>
              <a:t>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FC4210E-2EA1-CCF2-5D03-40A06EE948AD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AB3227F-10FF-8868-D1AE-952A04C60E4C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80DF748-473A-0E63-0260-B71B7C89189A}"/>
              </a:ext>
            </a:extLst>
          </p:cNvPr>
          <p:cNvSpPr txBox="1"/>
          <p:nvPr/>
        </p:nvSpPr>
        <p:spPr>
          <a:xfrm>
            <a:off x="3049030" y="3105835"/>
            <a:ext cx="41426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https://drive.google.com/file/d/1aroLMzUAo0E_mzfvoAd9tHSNPoiw5wvS/view?usp=drive_link</a:t>
            </a:r>
            <a:endParaRPr lang="es-CO" sz="1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sz="1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3DE0F3-4C3A-784F-7D47-91A1CAF1C196}"/>
              </a:ext>
            </a:extLst>
          </p:cNvPr>
          <p:cNvSpPr txBox="1"/>
          <p:nvPr/>
        </p:nvSpPr>
        <p:spPr>
          <a:xfrm>
            <a:off x="8032348" y="1482247"/>
            <a:ext cx="3818475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b="1" dirty="0"/>
          </a:p>
          <a:p>
            <a:r>
              <a:rPr lang="es-MX" sz="1600" b="1" dirty="0"/>
              <a:t>Portafolio</a:t>
            </a:r>
            <a:r>
              <a:rPr lang="es-MX" sz="1600" dirty="0"/>
              <a:t>: </a:t>
            </a:r>
            <a:r>
              <a:rPr lang="es-MX" sz="1600" b="0" dirty="0"/>
              <a:t>No comunica actividades promocionales (dinámica de participación - hoy ganas mañana tambien, ) y falta profundización en los beneficios de producto – ofrecimiento de excellent.</a:t>
            </a:r>
          </a:p>
          <a:p>
            <a:endParaRPr lang="es-MX" sz="1600" b="1" dirty="0"/>
          </a:p>
          <a:p>
            <a:r>
              <a:rPr lang="es-MX" sz="1600" b="1" dirty="0"/>
              <a:t>Labor de venta: </a:t>
            </a:r>
            <a:r>
              <a:rPr lang="es-MX" sz="1600" b="0" dirty="0"/>
              <a:t>No incentiva la venta con frases clave. </a:t>
            </a:r>
            <a:endParaRPr lang="es-MX" sz="1600" dirty="0">
              <a:highlight>
                <a:srgbClr val="C0C0C0"/>
              </a:highlight>
            </a:endParaRPr>
          </a:p>
          <a:p>
            <a:endParaRPr lang="es-MX" sz="1600" b="0" dirty="0">
              <a:highlight>
                <a:srgbClr val="C0C0C0"/>
              </a:highlight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4D06388-B7A6-55DC-38A5-82CB4A361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736" y="1271144"/>
            <a:ext cx="432435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36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00C5-1221-8B77-C348-15115AE9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9BB4430-D123-D60E-9CDF-E909BD613162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3657A4E8-DD32-FF74-E8FD-0F425470E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14F17C4-AD30-37D4-BE3B-BC7ACF3D92E3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C490E96B-2DFD-60ED-1A55-C8C0893071C4}"/>
              </a:ext>
            </a:extLst>
          </p:cNvPr>
          <p:cNvSpPr txBox="1"/>
          <p:nvPr/>
        </p:nvSpPr>
        <p:spPr>
          <a:xfrm>
            <a:off x="2877350" y="114934"/>
            <a:ext cx="7505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CRONICAS PET  </a:t>
            </a:r>
            <a:r>
              <a:rPr lang="es-MX" b="1" dirty="0"/>
              <a:t> </a:t>
            </a:r>
            <a:r>
              <a:rPr lang="es-MX" sz="1800" dirty="0"/>
              <a:t>- </a:t>
            </a:r>
            <a:r>
              <a:rPr lang="es-MX" dirty="0" err="1"/>
              <a:t>Bquilla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8D86933-F7D4-A429-7F9C-082E0BC62EBF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CCBB3CF-8CAC-86B0-B20C-0576754193F9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F33C7C-A846-32B2-36DD-62B1312C62FE}"/>
              </a:ext>
            </a:extLst>
          </p:cNvPr>
          <p:cNvSpPr txBox="1"/>
          <p:nvPr/>
        </p:nvSpPr>
        <p:spPr>
          <a:xfrm>
            <a:off x="3131892" y="1185238"/>
            <a:ext cx="381847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C</a:t>
            </a:r>
            <a:r>
              <a:rPr lang="es-MX" sz="1600" b="0" dirty="0"/>
              <a:t>a</a:t>
            </a:r>
            <a:r>
              <a:rPr lang="es-MX" sz="1600" dirty="0"/>
              <a:t>mbio de ruta por impulso de Gana al instante en Veterinaria Don Perro</a:t>
            </a:r>
            <a:endParaRPr lang="es-MX" sz="1600" b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77B7BEC-D026-4CCE-18F0-44AFA4A850C2}"/>
              </a:ext>
            </a:extLst>
          </p:cNvPr>
          <p:cNvSpPr txBox="1"/>
          <p:nvPr/>
        </p:nvSpPr>
        <p:spPr>
          <a:xfrm>
            <a:off x="3901138" y="3298680"/>
            <a:ext cx="6098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3"/>
              </a:rPr>
              <a:t>https://drive.google.com/file/d/11NMmZEF_hcrGFH4qa1TI6x2bGFZQo3D4/view?usp=drive_link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72317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50A94-F6ED-9590-49DC-656782BB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E1F42E8-A889-8B77-57F0-7324F98ED9E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B025B5BD-16E9-9BB3-1216-64543A69B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D2B8CE1-A987-2591-B3A1-B8AD112153BE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B0F05580-970C-3B47-2FA1-062F3CB6FABE}"/>
              </a:ext>
            </a:extLst>
          </p:cNvPr>
          <p:cNvSpPr txBox="1"/>
          <p:nvPr/>
        </p:nvSpPr>
        <p:spPr>
          <a:xfrm>
            <a:off x="2877350" y="114934"/>
            <a:ext cx="5476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PUPPIS CALLE 85.</a:t>
            </a:r>
            <a:r>
              <a:rPr lang="es-MX" b="1" dirty="0"/>
              <a:t> </a:t>
            </a:r>
            <a:r>
              <a:rPr lang="es-MX" sz="1800" dirty="0"/>
              <a:t>- </a:t>
            </a:r>
            <a:r>
              <a:rPr lang="es-MX" dirty="0"/>
              <a:t>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0105153-3FE0-45C7-6B0C-BF0AA57B6DEC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6A4DBAB-E9E5-9222-062F-37485377F7C4}"/>
              </a:ext>
            </a:extLst>
          </p:cNvPr>
          <p:cNvSpPr txBox="1"/>
          <p:nvPr/>
        </p:nvSpPr>
        <p:spPr>
          <a:xfrm>
            <a:off x="3049030" y="3105835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https://drive.google.com/file/d/1ljUI_lnCpc2-SbOsvH03E1fx4JS54xVY/view?usp=drive_link</a:t>
            </a:r>
            <a:endParaRPr lang="es-CO" sz="18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s-CO" dirty="0"/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8FC5B52-84CC-1785-457F-D9DE24ADACD3}"/>
              </a:ext>
            </a:extLst>
          </p:cNvPr>
          <p:cNvSpPr txBox="1"/>
          <p:nvPr/>
        </p:nvSpPr>
        <p:spPr>
          <a:xfrm>
            <a:off x="3232223" y="1373898"/>
            <a:ext cx="381847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dirty="0"/>
              <a:t>CAMBIO DE RUTA - IMPLEMENTACION GANA AL INSTANTE. </a:t>
            </a:r>
            <a:endParaRPr lang="es-MX" sz="16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07660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B331-0988-53D7-D436-FC4445BB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0D58BFF-4E6D-09EB-3E45-D790E25AA560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55A7217D-CCF9-9835-21D3-5398D308C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AF6114C-B82B-44CF-3C54-62A4D83986C7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43D94FAE-AEA1-1731-5215-19776F178837}"/>
              </a:ext>
            </a:extLst>
          </p:cNvPr>
          <p:cNvSpPr txBox="1"/>
          <p:nvPr/>
        </p:nvSpPr>
        <p:spPr>
          <a:xfrm>
            <a:off x="2877350" y="114934"/>
            <a:ext cx="5476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PUPPIS CALIMA.</a:t>
            </a:r>
            <a:r>
              <a:rPr lang="es-MX" b="1" dirty="0"/>
              <a:t> </a:t>
            </a:r>
            <a:r>
              <a:rPr lang="es-MX" sz="1800" dirty="0"/>
              <a:t>- </a:t>
            </a:r>
            <a:r>
              <a:rPr lang="es-MX" dirty="0"/>
              <a:t>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96A1C6A-92DF-4F1D-CACE-80AFEFFF9076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69267A3-8BF0-7618-B70E-16A97774A8DF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E30380B-F149-7DA4-84E8-DDCE0823AFE4}"/>
              </a:ext>
            </a:extLst>
          </p:cNvPr>
          <p:cNvSpPr txBox="1"/>
          <p:nvPr/>
        </p:nvSpPr>
        <p:spPr>
          <a:xfrm>
            <a:off x="3049030" y="3105835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https://drive.google.com/file/d/1BrG4MHtSiM_2ZNf8xsQvK6aOIVB5aqm6/view?usp=drive_link</a:t>
            </a:r>
            <a:endParaRPr lang="es-CO" sz="18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0A263B-4640-0029-DA3D-171F45062B50}"/>
              </a:ext>
            </a:extLst>
          </p:cNvPr>
          <p:cNvSpPr txBox="1"/>
          <p:nvPr/>
        </p:nvSpPr>
        <p:spPr>
          <a:xfrm>
            <a:off x="3232223" y="1373898"/>
            <a:ext cx="381847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dirty="0"/>
              <a:t>* EVENTO DE APERTURA DIVERPOOL </a:t>
            </a:r>
            <a:endParaRPr lang="es-MX" sz="16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165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1AB37-7CB1-34C6-6EB5-CF81092B0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4B241B4-7DDB-F226-CB3A-7BCB066B2DF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C410F3F-3E5B-DBCD-7F1E-37AE75A6A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64265C6-FFC8-B014-6C22-A1B597C69921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C72B2853-053B-D66E-0C0B-2D24D1BFF3E8}"/>
              </a:ext>
            </a:extLst>
          </p:cNvPr>
          <p:cNvSpPr txBox="1"/>
          <p:nvPr/>
        </p:nvSpPr>
        <p:spPr>
          <a:xfrm>
            <a:off x="2877350" y="114934"/>
            <a:ext cx="5476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EXITO COUNTRY </a:t>
            </a:r>
            <a:r>
              <a:rPr lang="es-MX" sz="1800" dirty="0"/>
              <a:t>- </a:t>
            </a:r>
            <a:r>
              <a:rPr lang="es-MX" dirty="0"/>
              <a:t>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841541-97BD-42C7-96C5-8DE7BC248953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41A3D08-4AD4-3970-233F-42F929A4CEFE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EAC1CE-3790-F2F9-F5A8-24A6F9729088}"/>
              </a:ext>
            </a:extLst>
          </p:cNvPr>
          <p:cNvSpPr txBox="1"/>
          <p:nvPr/>
        </p:nvSpPr>
        <p:spPr>
          <a:xfrm>
            <a:off x="3049030" y="3105835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https://drive.google.com/file/d/1nqGduGSqwsvOYr4D-W09T3hsPVHqfEAX/view?usp=drive_link</a:t>
            </a:r>
            <a:endParaRPr lang="es-CO" sz="18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9DB2C7-3CE7-65FB-E329-913BF154E5D0}"/>
              </a:ext>
            </a:extLst>
          </p:cNvPr>
          <p:cNvSpPr txBox="1"/>
          <p:nvPr/>
        </p:nvSpPr>
        <p:spPr>
          <a:xfrm>
            <a:off x="3187978" y="1271131"/>
            <a:ext cx="381847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dirty="0"/>
              <a:t>PERSONAL EN CURSO DE ALTURAS. </a:t>
            </a:r>
            <a:endParaRPr lang="es-MX" sz="16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399876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78408-3688-2B76-538D-0DFEFC54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369A1ED-780A-147B-E583-F7984D09CD8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02EDE880-3512-918B-383F-0D5F13471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9" y="2813509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A61125B-69E9-1871-69FD-7523DD07E0A6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F2269F96-FCDF-4F03-0039-119A58196DE1}"/>
              </a:ext>
            </a:extLst>
          </p:cNvPr>
          <p:cNvSpPr txBox="1"/>
          <p:nvPr/>
        </p:nvSpPr>
        <p:spPr>
          <a:xfrm>
            <a:off x="2877350" y="114934"/>
            <a:ext cx="5476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EXITO LAURELES. </a:t>
            </a:r>
            <a:r>
              <a:rPr lang="es-MX" sz="1800" dirty="0"/>
              <a:t>- </a:t>
            </a:r>
            <a:r>
              <a:rPr lang="es-MX" dirty="0"/>
              <a:t>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04A2826-2231-D7FA-A963-342902718B2F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3999D19-93B9-D726-EAAA-34D8F1048E3B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E438416-EB5C-7FAA-A7BE-8822E862FDE3}"/>
              </a:ext>
            </a:extLst>
          </p:cNvPr>
          <p:cNvSpPr txBox="1"/>
          <p:nvPr/>
        </p:nvSpPr>
        <p:spPr>
          <a:xfrm>
            <a:off x="3049030" y="3105835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  <a:hlinkClick r:id="rId3"/>
              </a:rPr>
              <a:t>https://drive.google.com/file/d/1kns1O4hCb6ruM3uToQ_ttxjO1TH66ngP/view?usp=drive_link</a:t>
            </a:r>
            <a:endParaRPr lang="es-CO" sz="18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7DAF45-10A3-E983-385B-55F35FB5A327}"/>
              </a:ext>
            </a:extLst>
          </p:cNvPr>
          <p:cNvSpPr txBox="1"/>
          <p:nvPr/>
        </p:nvSpPr>
        <p:spPr>
          <a:xfrm>
            <a:off x="3133965" y="1342361"/>
            <a:ext cx="381847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dirty="0"/>
              <a:t>CAMBIO DE RUTA - PLAN CANGURO EN LAS VAQUITAS. </a:t>
            </a:r>
            <a:endParaRPr lang="es-MX" sz="16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9141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D363-22FB-0167-1AEC-42103661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CEC202C-0003-BB2D-42EE-0B4435FB8D1C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F0C89C80-70FE-8B39-665F-B2F6D19B0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8" y="3096973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5D53E87-9F23-A22C-2547-0DF1F4F52E98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EAEC1A9-BC3E-83F3-7E36-EA16B624E7FE}"/>
              </a:ext>
            </a:extLst>
          </p:cNvPr>
          <p:cNvSpPr txBox="1"/>
          <p:nvPr/>
        </p:nvSpPr>
        <p:spPr>
          <a:xfrm>
            <a:off x="2877350" y="272904"/>
            <a:ext cx="614362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>
                <a:latin typeface="Franklin Gothic Demi"/>
              </a:rPr>
              <a:t>PLANES DE ACCIÓN</a:t>
            </a:r>
            <a:endParaRPr lang="es-MX" dirty="0">
              <a:latin typeface="Franklin Gothic Demi" panose="020B07030201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C6363B1-09DA-100B-8CBE-639B6623C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916" y="1239571"/>
            <a:ext cx="80673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/>
              <a:t>Portafolio y Manejo de Objeciones: </a:t>
            </a:r>
            <a:endParaRPr lang="es-CO" altLang="es-CO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Capacitación en argumentación de ventas: Realizar talleres prácticos sobre los beneficios del portafolio y cómo responder objeciones comunes.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Guías rápidas de objeciones: Crear material de consulta rápida con respuestas efectivas a dudas frecuentes.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Role </a:t>
            </a:r>
            <a:r>
              <a:rPr lang="es-CO" altLang="es-CO" sz="1600" dirty="0" err="1"/>
              <a:t>playing</a:t>
            </a:r>
            <a:r>
              <a:rPr lang="es-CO" altLang="es-CO" sz="1600" dirty="0"/>
              <a:t> semanal: Simulaciones de ventas para mejorar la confianza en la argumentación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475E81E-B101-3FA3-7BB6-F22BECA01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916" y="3140828"/>
            <a:ext cx="842132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b="1" dirty="0"/>
              <a:t>Labor de Venta</a:t>
            </a:r>
            <a:r>
              <a:rPr lang="es-CO" sz="1600" dirty="0"/>
              <a:t> </a:t>
            </a:r>
            <a:r>
              <a:rPr lang="es-MX" sz="1600" b="1" dirty="0"/>
              <a:t>: </a:t>
            </a:r>
            <a:endParaRPr lang="es-CO" altLang="es-CO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Entrenamiento en técnicas de cierre de ventas: Reforzar la venta consultiva con enfoque en necesidades del cliente.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Seguimiento con evaluaciones internas: </a:t>
            </a:r>
            <a:r>
              <a:rPr lang="es-CO" altLang="es-CO" sz="1600" dirty="0" err="1"/>
              <a:t>Mistery</a:t>
            </a:r>
            <a:r>
              <a:rPr lang="es-CO" altLang="es-CO" sz="1600" dirty="0"/>
              <a:t> </a:t>
            </a:r>
            <a:r>
              <a:rPr lang="es-CO" altLang="es-CO" sz="1600" dirty="0" err="1"/>
              <a:t>shoppers</a:t>
            </a:r>
            <a:r>
              <a:rPr lang="es-CO" altLang="es-CO" sz="1600" dirty="0"/>
              <a:t> internos para validar mejoras.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Incentivos por conversión: Recompensar a asesores con mayores tasas de cierre.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B5F9E34-F9D1-C801-8326-DC19EDAF8D21}"/>
              </a:ext>
            </a:extLst>
          </p:cNvPr>
          <p:cNvSpPr txBox="1"/>
          <p:nvPr/>
        </p:nvSpPr>
        <p:spPr>
          <a:xfrm>
            <a:off x="3204087" y="5061602"/>
            <a:ext cx="77650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/>
              <a:t>Principal Alerta por ciudad: </a:t>
            </a:r>
          </a:p>
          <a:p>
            <a:pPr algn="ctr"/>
            <a:r>
              <a:rPr lang="es-MX" sz="1600" dirty="0"/>
              <a:t>En Medellín, reforzar capacitaciones en portafolio (52%) y en Bogotá fortalecer habilidades comerciales (58%).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18239402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9B8D18AB98464181D1E85108248829" ma:contentTypeVersion="17" ma:contentTypeDescription="Crear nuevo documento." ma:contentTypeScope="" ma:versionID="b9cea1c05ae2262eed0cd5c2b2009515">
  <xsd:schema xmlns:xsd="http://www.w3.org/2001/XMLSchema" xmlns:xs="http://www.w3.org/2001/XMLSchema" xmlns:p="http://schemas.microsoft.com/office/2006/metadata/properties" xmlns:ns2="932c55c3-b5e0-4673-a25e-773070737706" xmlns:ns3="1828f71f-f3a5-414e-8b06-277e7a91b4d5" targetNamespace="http://schemas.microsoft.com/office/2006/metadata/properties" ma:root="true" ma:fieldsID="e080551d790acb6b42469279dd31adeb" ns2:_="" ns3:_="">
    <xsd:import namespace="932c55c3-b5e0-4673-a25e-773070737706"/>
    <xsd:import namespace="1828f71f-f3a5-414e-8b06-277e7a91b4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2c55c3-b5e0-4673-a25e-7730707377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afb041b7-8286-4f54-8f47-108c361624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28f71f-f3a5-414e-8b06-277e7a91b4d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f7eabd3-d49c-4116-8f8a-f44327f7309c}" ma:internalName="TaxCatchAll" ma:showField="CatchAllData" ma:web="1828f71f-f3a5-414e-8b06-277e7a91b4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32c55c3-b5e0-4673-a25e-773070737706">
      <Terms xmlns="http://schemas.microsoft.com/office/infopath/2007/PartnerControls"/>
    </lcf76f155ced4ddcb4097134ff3c332f>
    <TaxCatchAll xmlns="1828f71f-f3a5-414e-8b06-277e7a91b4d5" xsi:nil="true"/>
  </documentManagement>
</p:properties>
</file>

<file path=customXml/itemProps1.xml><?xml version="1.0" encoding="utf-8"?>
<ds:datastoreItem xmlns:ds="http://schemas.openxmlformats.org/officeDocument/2006/customXml" ds:itemID="{C04E4501-7E14-43A4-96E9-4CECCAB4F3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5CF6D3-F8A5-4F63-9E27-AA0C1906957A}"/>
</file>

<file path=customXml/itemProps3.xml><?xml version="1.0" encoding="utf-8"?>
<ds:datastoreItem xmlns:ds="http://schemas.openxmlformats.org/officeDocument/2006/customXml" ds:itemID="{48446356-CFDD-47F4-A1AC-D66587E12E15}">
  <ds:schemaRefs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e523bf45-09fb-4f9b-aa49-e403c0417b10"/>
    <ds:schemaRef ds:uri="http://purl.org/dc/elements/1.1/"/>
    <ds:schemaRef ds:uri="http://purl.org/dc/dcmitype/"/>
    <ds:schemaRef ds:uri="726c8eaf-14c1-4e89-a6e9-59524033e4a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2728</Words>
  <Application>Microsoft Office PowerPoint</Application>
  <PresentationFormat>Panorámica</PresentationFormat>
  <Paragraphs>317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Aptos Narrow</vt:lpstr>
      <vt:lpstr>Arial</vt:lpstr>
      <vt:lpstr>Franklin Gothic Demi</vt:lpstr>
      <vt:lpstr>ui-sans-serif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Angie Lorena Gomez Romero</dc:creator>
  <cp:lastModifiedBy>Angie Lorena  Gomez Romero</cp:lastModifiedBy>
  <cp:revision>33</cp:revision>
  <dcterms:created xsi:type="dcterms:W3CDTF">2024-07-23T15:31:20Z</dcterms:created>
  <dcterms:modified xsi:type="dcterms:W3CDTF">2025-04-08T13:20:33Z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4e5b13-2d98-4ce3-adad-008bcee42cb2_Enabled">
    <vt:lpwstr>true</vt:lpwstr>
  </property>
  <property fmtid="{D5CDD505-2E9C-101B-9397-08002B2CF9AE}" pid="3" name="MSIP_Label_b64e5b13-2d98-4ce3-adad-008bcee42cb2_SetDate">
    <vt:lpwstr>2025-02-18T12:54:11Z</vt:lpwstr>
  </property>
  <property fmtid="{D5CDD505-2E9C-101B-9397-08002B2CF9AE}" pid="4" name="MSIP_Label_b64e5b13-2d98-4ce3-adad-008bcee42cb2_Method">
    <vt:lpwstr>Standard</vt:lpwstr>
  </property>
  <property fmtid="{D5CDD505-2E9C-101B-9397-08002B2CF9AE}" pid="5" name="MSIP_Label_b64e5b13-2d98-4ce3-adad-008bcee42cb2_Name">
    <vt:lpwstr>Información Confidencial</vt:lpwstr>
  </property>
  <property fmtid="{D5CDD505-2E9C-101B-9397-08002B2CF9AE}" pid="6" name="MSIP_Label_b64e5b13-2d98-4ce3-adad-008bcee42cb2_SiteId">
    <vt:lpwstr>d2bc208e-4fff-4078-b5ac-f69a6a266ff3</vt:lpwstr>
  </property>
  <property fmtid="{D5CDD505-2E9C-101B-9397-08002B2CF9AE}" pid="7" name="MSIP_Label_b64e5b13-2d98-4ce3-adad-008bcee42cb2_ActionId">
    <vt:lpwstr>cc883d48-43a9-431b-b437-4e3ce90acde8</vt:lpwstr>
  </property>
  <property fmtid="{D5CDD505-2E9C-101B-9397-08002B2CF9AE}" pid="8" name="MSIP_Label_b64e5b13-2d98-4ce3-adad-008bcee42cb2_ContentBits">
    <vt:lpwstr>0</vt:lpwstr>
  </property>
  <property fmtid="{D5CDD505-2E9C-101B-9397-08002B2CF9AE}" pid="9" name="MSIP_Label_b64e5b13-2d98-4ce3-adad-008bcee42cb2_Tag">
    <vt:lpwstr>10, 3, 0, 2</vt:lpwstr>
  </property>
  <property fmtid="{D5CDD505-2E9C-101B-9397-08002B2CF9AE}" pid="10" name="ContentTypeId">
    <vt:lpwstr>0x010100239B8D18AB98464181D1E85108248829</vt:lpwstr>
  </property>
</Properties>
</file>