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332" r:id="rId5"/>
    <p:sldId id="333" r:id="rId6"/>
    <p:sldId id="334" r:id="rId7"/>
    <p:sldId id="354" r:id="rId8"/>
    <p:sldId id="379" r:id="rId9"/>
    <p:sldId id="353" r:id="rId10"/>
    <p:sldId id="393" r:id="rId11"/>
    <p:sldId id="415" r:id="rId12"/>
    <p:sldId id="416" r:id="rId13"/>
    <p:sldId id="417" r:id="rId14"/>
    <p:sldId id="389" r:id="rId15"/>
    <p:sldId id="390" r:id="rId16"/>
    <p:sldId id="391" r:id="rId17"/>
    <p:sldId id="331" r:id="rId18"/>
    <p:sldId id="276" r:id="rId19"/>
    <p:sldId id="257" r:id="rId20"/>
    <p:sldId id="378" r:id="rId21"/>
    <p:sldId id="344" r:id="rId22"/>
    <p:sldId id="398" r:id="rId23"/>
    <p:sldId id="399" r:id="rId24"/>
    <p:sldId id="418" r:id="rId25"/>
    <p:sldId id="419" r:id="rId26"/>
    <p:sldId id="420" r:id="rId27"/>
    <p:sldId id="421" r:id="rId28"/>
    <p:sldId id="422" r:id="rId29"/>
    <p:sldId id="423" r:id="rId30"/>
    <p:sldId id="424" r:id="rId31"/>
    <p:sldId id="425" r:id="rId32"/>
    <p:sldId id="361" r:id="rId33"/>
    <p:sldId id="426" r:id="rId34"/>
    <p:sldId id="411" r:id="rId35"/>
    <p:sldId id="330" r:id="rId3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379"/>
            <p14:sldId id="353"/>
            <p14:sldId id="393"/>
            <p14:sldId id="415"/>
            <p14:sldId id="416"/>
            <p14:sldId id="417"/>
            <p14:sldId id="389"/>
            <p14:sldId id="390"/>
            <p14:sldId id="391"/>
          </p14:sldIdLst>
        </p14:section>
        <p14:section name="Informe Impulso" id="{E8B82DF3-41FF-4FB9-AD16-3D52B042A577}">
          <p14:sldIdLst>
            <p14:sldId id="331"/>
            <p14:sldId id="276"/>
            <p14:sldId id="257"/>
            <p14:sldId id="378"/>
            <p14:sldId id="344"/>
            <p14:sldId id="398"/>
            <p14:sldId id="399"/>
            <p14:sldId id="418"/>
            <p14:sldId id="419"/>
            <p14:sldId id="420"/>
            <p14:sldId id="421"/>
            <p14:sldId id="422"/>
            <p14:sldId id="423"/>
            <p14:sldId id="424"/>
            <p14:sldId id="425"/>
            <p14:sldId id="361"/>
            <p14:sldId id="426"/>
            <p14:sldId id="411"/>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0E137-3677-4457-AC1D-88C9E9B53BE9}" v="144" dt="2025-12-02T18:03:06.22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4660"/>
  </p:normalViewPr>
  <p:slideViewPr>
    <p:cSldViewPr snapToGrid="0">
      <p:cViewPr varScale="1">
        <p:scale>
          <a:sx n="67" d="100"/>
          <a:sy n="67" d="100"/>
        </p:scale>
        <p:origin x="49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85</c:v>
                </c:pt>
                <c:pt idx="1">
                  <c:v>15</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0142-4861-8C75-60E3BE13CF04}"/>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0142-4861-8C75-60E3BE13CF04}"/>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0142-4861-8C75-60E3BE13CF04}"/>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0142-4861-8C75-60E3BE13CF04}"/>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0142-4861-8C75-60E3BE13CF0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47</c:v>
                </c:pt>
                <c:pt idx="1">
                  <c:v>53</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65</c:v>
                </c:pt>
                <c:pt idx="1">
                  <c:v>35</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97</c:v>
                </c:pt>
                <c:pt idx="1">
                  <c:v>3</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4/12/2025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E411-40DD-4B0A-5168-3C9C3A9241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30F8C2-23E1-1574-1FCD-ABA82F83587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C925683-158D-615B-FA74-945C2270749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647F73A-BD4B-585D-3A54-96BE2B8AF187}"/>
              </a:ext>
            </a:extLst>
          </p:cNvPr>
          <p:cNvSpPr>
            <a:spLocks noGrp="1"/>
          </p:cNvSpPr>
          <p:nvPr>
            <p:ph type="sldNum" sz="quarter" idx="5"/>
          </p:nvPr>
        </p:nvSpPr>
        <p:spPr/>
        <p:txBody>
          <a:bodyPr/>
          <a:lstStyle/>
          <a:p>
            <a:fld id="{F9B85ECE-ACD0-4162-81D4-6AB2045C4D15}" type="slidenum">
              <a:rPr lang="es-CO" smtClean="0"/>
              <a:t>17</a:t>
            </a:fld>
            <a:endParaRPr lang="es-CO"/>
          </a:p>
        </p:txBody>
      </p:sp>
    </p:spTree>
    <p:extLst>
      <p:ext uri="{BB962C8B-B14F-4D97-AF65-F5344CB8AC3E}">
        <p14:creationId xmlns:p14="http://schemas.microsoft.com/office/powerpoint/2010/main" val="4086426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4/12/2025</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4/12/2025</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image" Target="../media/image4.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aYzlwa-2B9XtTNWqHHV6n0FtYZGqJ0cB/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image" Target="../media/image4.png"/><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9W2atz-ybVnndCb8zvl2q_JinhxMACo7/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chart" Target="../charts/char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7t9T4-4yuuGWicMWnoujDKUlS_LLv411/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chart" Target="../charts/char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URua1JtM-8DgClKO0ttpmLehzXf3mgq_/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chart" Target="../charts/chart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Bp89qee8tRM4AHM20f348NrTfJZ98bW6/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chart" Target="../charts/chart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drive.google.com/file/d/1DcFy8GfUb0X75NmNpK2IIDe3XU_tCLW2/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chart" Target="../charts/char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https://drive.google.com/file/d/1VKwd7hJJrv1MCuTd_aobTsB4itj7DXKE/view?usp=drive_link" TargetMode="External"/><Relationship Id="rId2" Type="http://schemas.openxmlformats.org/officeDocument/2006/relationships/hyperlink" Target="https://drive.google.com/file/d/16fgmH_iaLMpFgqBRIxinIRNC7oHcMCvv/view?usp=drive_link" TargetMode="Externa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drive.google.com/file/d/1nUBchHusqeLlgtPnMmImaRI_MLmJqfKg/view?usp=drive_link" TargetMode="External"/><Relationship Id="rId4" Type="http://schemas.openxmlformats.org/officeDocument/2006/relationships/hyperlink" Target="https://drive.google.com/file/d/1cHzNNnBNFJoq0hZYn10h12PWHtXpj_mN/view?usp=drive_link"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file/d/1f2xm_asYaRiBRonCZVGXTeOuW4y3_cYy/view?usp=drive_link" TargetMode="External"/><Relationship Id="rId2" Type="http://schemas.openxmlformats.org/officeDocument/2006/relationships/hyperlink" Target="https://drive.google.com/file/d/1UdZX8YApqnb6rMv3SxyG1Ec7oA78NlQn/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file/d/1xxDmxhKH_SqtZaABnIN4wqk9BsIXuAKV/view?usp=drive_link" TargetMode="External"/><Relationship Id="rId2" Type="http://schemas.openxmlformats.org/officeDocument/2006/relationships/hyperlink" Target="https://drive.google.com/file/d/1eNGAnk9Q4Z_M4kA4K1wJTBoanFQzr0Hc/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image" Target="../media/image4.png"/><Relationship Id="rId4" Type="http://schemas.openxmlformats.org/officeDocument/2006/relationships/chart" Target="../charts/chart8.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_5AbmdRqQFCxnteNFMbe3md6cU1eH5Oc/view?usp=drive_link" TargetMode="External"/><Relationship Id="rId1" Type="http://schemas.openxmlformats.org/officeDocument/2006/relationships/slideLayout" Target="../slideLayouts/slideLayout1.x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hyperlink" Target="https://drive.google.com/file/d/1YugIf1WCR0txgrOtQvKZVyugBY9Zcjyp/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hyperlink" Target="https://drive.google.com/file/d/1h-ox-hqf1c5ucmKCa29tl-Sk_T2hgv9e/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QZZeRA-ClabuUlw9HGwg6McPvJGVoCbt/view?usp=drive_link" TargetMode="External"/><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hyperlink" Target="https://drive.google.com/file/d/1r-5DnZvXxGu6nSKzWxen4OOQOe6GoSxa/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8aJjs_9f_QcVIIg5qihQ5TW4AzT4ucG/view?usp=drive_link" TargetMode="Externa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fCeKLL9ntgdSDvkxMxurdbZ_BgMrPNec/view?usp=drive_link" TargetMode="External"/><Relationship Id="rId1" Type="http://schemas.openxmlformats.org/officeDocument/2006/relationships/slideLayout" Target="../slideLayouts/slideLayout1.x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ace_pa6Rp1OhEtAu_pnCku9wbEsgojlJ/view?usp=drive_link" TargetMode="External"/><Relationship Id="rId1" Type="http://schemas.openxmlformats.org/officeDocument/2006/relationships/slideLayout" Target="../slideLayouts/slideLayout1.xml"/><Relationship Id="rId4" Type="http://schemas.openxmlformats.org/officeDocument/2006/relationships/image" Target="../media/image24.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Gqj9GUC6dqCUeeCq9YXEDFdTjZRibOq3/view?usp=drive_link" TargetMode="External"/><Relationship Id="rId1" Type="http://schemas.openxmlformats.org/officeDocument/2006/relationships/slideLayout" Target="../slideLayouts/slideLayout1.xml"/><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vJMLA-q5xFBIumad3gO801WRcCsKf6HY/view?usp=drive_link" TargetMode="External"/><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hyperlink" Target="https://drive.google.com/file/d/1ILQAZHMZQcNMOP0rShVmNA6_U7q4CQJt/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hyperlink" Target="https://drive.google.com/file/d/1jCJyNxhwmbQgBeTBiSCS5EesLh3ARYmX/view?usp=drive_link" TargetMode="External"/><Relationship Id="rId2" Type="http://schemas.openxmlformats.org/officeDocument/2006/relationships/hyperlink" Target="https://drive.google.com/file/d/16q40-kmggBfMBeNN8V9x-yTZWy_MTapt/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hyperlink" Target="https://drive.google.com/file/d/1BjakMaCsdinliKpA_mjUxxE6ji9x_kFF/view?usp=drive_link" TargetMode="External"/><Relationship Id="rId2" Type="http://schemas.openxmlformats.org/officeDocument/2006/relationships/hyperlink" Target="https://drive.google.com/file/d/1vwtSVqaI6IsN_ic7PEFry0YOyh-u56Nd/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B0BeA7GKsitXt107CMItYhlf7N-hS3WO/view?usp=drive_link"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125833"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algn="ctr"/>
            <a:r>
              <a:rPr lang="es-MX" sz="2400" b="1" dirty="0">
                <a:solidFill>
                  <a:schemeClr val="bg1"/>
                </a:solidFill>
                <a:latin typeface="ui-sans-serif"/>
              </a:rPr>
              <a:t>- Noviembre 2025 -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Noviembre</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89029" y="2879302"/>
            <a:ext cx="8757396" cy="3970318"/>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MX" sz="1200" b="1" dirty="0"/>
              <a:t>ACTIVIDADES DEL MES: </a:t>
            </a:r>
            <a:r>
              <a:rPr lang="es-MX" sz="1200" dirty="0"/>
              <a:t>Implementación de las actividades de acuerdo al canal: </a:t>
            </a:r>
            <a:endParaRPr lang="es-MX" sz="1200" b="1" dirty="0"/>
          </a:p>
          <a:p>
            <a:pPr marL="742950" lvl="1" indent="-285750" algn="just">
              <a:buFont typeface="Arial" panose="020B0604020202020204" pitchFamily="34" charset="0"/>
              <a:buChar char="•"/>
            </a:pPr>
            <a:r>
              <a:rPr lang="es-MX" sz="1200" u="sng" dirty="0"/>
              <a:t>Moderno:</a:t>
            </a:r>
            <a:r>
              <a:rPr lang="es-CO" sz="1200" dirty="0"/>
              <a:t> Tiene implementado el material pop correspondiente a las promociones que aplican en el pdv.</a:t>
            </a:r>
          </a:p>
          <a:p>
            <a:pPr lvl="3" algn="just"/>
            <a:r>
              <a:rPr lang="es-CO" sz="1200" dirty="0"/>
              <a:t> Tiene implementadas las exhibiciones negociadas en el pdv.</a:t>
            </a:r>
          </a:p>
          <a:p>
            <a:pPr marL="742950" lvl="1" indent="-285750" algn="just">
              <a:buFont typeface="Arial" panose="020B0604020202020204" pitchFamily="34" charset="0"/>
              <a:buChar char="•"/>
            </a:pPr>
            <a:r>
              <a:rPr lang="es-MX" sz="1200" u="sng" dirty="0"/>
              <a:t>Especializado:</a:t>
            </a:r>
            <a:r>
              <a:rPr lang="es-CO" sz="1200" dirty="0"/>
              <a:t>    Se encuentra el material pop de Félix nuevas referencias " aplica donde esta codificado“.			Se encuentra en el lineal las referencias 1,5 en pu y adu de la marca excellent.</a:t>
            </a:r>
          </a:p>
          <a:p>
            <a:pPr lvl="1" algn="just"/>
            <a:r>
              <a:rPr lang="es-CO" sz="1200" dirty="0"/>
              <a:t>		Se encuentra la nueva referencia de excellent esterilizado de 1k.</a:t>
            </a:r>
          </a:p>
          <a:p>
            <a:pPr lvl="1" algn="just"/>
            <a:r>
              <a:rPr lang="es-CO" sz="1200" dirty="0"/>
              <a:t>		S</a:t>
            </a:r>
            <a:r>
              <a:rPr lang="es-ES" sz="1200" dirty="0"/>
              <a:t>e encuentra la referencia pro plan wet de salmón y/urinario.</a:t>
            </a:r>
          </a:p>
          <a:p>
            <a:pPr lvl="1" algn="just"/>
            <a:r>
              <a:rPr lang="es-ES" sz="1200" dirty="0"/>
              <a:t>		El pdv maneja categoría de snacks.</a:t>
            </a:r>
            <a:endParaRPr lang="es-CO" sz="1200" dirty="0"/>
          </a:p>
          <a:p>
            <a:pPr marL="742950" lvl="1" indent="-285750" algn="just">
              <a:buFont typeface="Arial" panose="020B0604020202020204" pitchFamily="34" charset="0"/>
              <a:buChar char="•"/>
            </a:pPr>
            <a:r>
              <a:rPr lang="es-MX" sz="1200" u="sng" dirty="0"/>
              <a:t>Tradicional:</a:t>
            </a:r>
            <a:r>
              <a:rPr lang="es-CO" sz="1200" dirty="0"/>
              <a:t> </a:t>
            </a:r>
            <a:r>
              <a:rPr lang="es-ES" sz="1200" dirty="0"/>
              <a:t>Conoce el precio de la paquetería dog chow 350g / 475g; cat chow 200g.</a:t>
            </a:r>
            <a:endParaRPr lang="es-MX" sz="1200" dirty="0"/>
          </a:p>
          <a:p>
            <a:pPr algn="just"/>
            <a:endParaRPr lang="es-MX" sz="1200" b="1"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5653920" y="1620770"/>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6" name="Imagen 5">
            <a:extLst>
              <a:ext uri="{FF2B5EF4-FFF2-40B4-BE49-F238E27FC236}">
                <a16:creationId xmlns:a16="http://schemas.microsoft.com/office/drawing/2014/main" id="{024F262B-A3D1-E975-4AE9-A13AE1529318}"/>
              </a:ext>
            </a:extLst>
          </p:cNvPr>
          <p:cNvPicPr>
            <a:picLocks noChangeAspect="1"/>
          </p:cNvPicPr>
          <p:nvPr/>
        </p:nvPicPr>
        <p:blipFill>
          <a:blip r:embed="rId4">
            <a:biLevel thresh="75000"/>
          </a:blip>
          <a:stretch>
            <a:fillRect/>
          </a:stretch>
        </p:blipFill>
        <p:spPr>
          <a:xfrm>
            <a:off x="368929" y="3587667"/>
            <a:ext cx="463336" cy="463336"/>
          </a:xfrm>
          <a:prstGeom prst="rect">
            <a:avLst/>
          </a:prstGeom>
        </p:spPr>
      </p:pic>
      <p:sp>
        <p:nvSpPr>
          <p:cNvPr id="8" name="CuadroTexto 7">
            <a:extLst>
              <a:ext uri="{FF2B5EF4-FFF2-40B4-BE49-F238E27FC236}">
                <a16:creationId xmlns:a16="http://schemas.microsoft.com/office/drawing/2014/main" id="{3E7339F9-75FA-3788-907E-F9E8AD0C0471}"/>
              </a:ext>
            </a:extLst>
          </p:cNvPr>
          <p:cNvSpPr txBox="1"/>
          <p:nvPr/>
        </p:nvSpPr>
        <p:spPr>
          <a:xfrm>
            <a:off x="857082" y="3568539"/>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pic>
        <p:nvPicPr>
          <p:cNvPr id="13" name="Imagen 12">
            <a:extLst>
              <a:ext uri="{FF2B5EF4-FFF2-40B4-BE49-F238E27FC236}">
                <a16:creationId xmlns:a16="http://schemas.microsoft.com/office/drawing/2014/main" id="{C551E049-BCAD-7FCE-6A91-9A48B03B9EA3}"/>
              </a:ext>
            </a:extLst>
          </p:cNvPr>
          <p:cNvPicPr>
            <a:picLocks noChangeAspect="1"/>
          </p:cNvPicPr>
          <p:nvPr/>
        </p:nvPicPr>
        <p:blipFill>
          <a:blip r:embed="rId4">
            <a:biLevel thresh="75000"/>
          </a:blip>
          <a:stretch>
            <a:fillRect/>
          </a:stretch>
        </p:blipFill>
        <p:spPr>
          <a:xfrm>
            <a:off x="393746" y="5343799"/>
            <a:ext cx="463336" cy="463336"/>
          </a:xfrm>
          <a:prstGeom prst="rect">
            <a:avLst/>
          </a:prstGeom>
        </p:spPr>
      </p:pic>
      <p:sp>
        <p:nvSpPr>
          <p:cNvPr id="14" name="CuadroTexto 13">
            <a:extLst>
              <a:ext uri="{FF2B5EF4-FFF2-40B4-BE49-F238E27FC236}">
                <a16:creationId xmlns:a16="http://schemas.microsoft.com/office/drawing/2014/main" id="{0161FFC1-5FE4-F6A2-A1DD-73553B6B5305}"/>
              </a:ext>
            </a:extLst>
          </p:cNvPr>
          <p:cNvSpPr txBox="1"/>
          <p:nvPr/>
        </p:nvSpPr>
        <p:spPr>
          <a:xfrm>
            <a:off x="881899" y="5324671"/>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Medellín</a:t>
            </a:r>
            <a:endParaRPr lang="es-CO" sz="1600" b="1" dirty="0">
              <a:solidFill>
                <a:schemeClr val="bg1"/>
              </a:solidFill>
            </a:endParaRPr>
          </a:p>
        </p:txBody>
      </p:sp>
      <p:sp>
        <p:nvSpPr>
          <p:cNvPr id="16" name="CuadroTexto 15">
            <a:extLst>
              <a:ext uri="{FF2B5EF4-FFF2-40B4-BE49-F238E27FC236}">
                <a16:creationId xmlns:a16="http://schemas.microsoft.com/office/drawing/2014/main" id="{BCBAF28B-4381-CD77-9109-915F46BB08BF}"/>
              </a:ext>
            </a:extLst>
          </p:cNvPr>
          <p:cNvSpPr txBox="1"/>
          <p:nvPr/>
        </p:nvSpPr>
        <p:spPr>
          <a:xfrm>
            <a:off x="857082" y="2650843"/>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8" name="Imagen 17">
            <a:extLst>
              <a:ext uri="{FF2B5EF4-FFF2-40B4-BE49-F238E27FC236}">
                <a16:creationId xmlns:a16="http://schemas.microsoft.com/office/drawing/2014/main" id="{87FE0B76-7830-BB16-89A4-2E7C21EFA578}"/>
              </a:ext>
            </a:extLst>
          </p:cNvPr>
          <p:cNvPicPr>
            <a:picLocks noChangeAspect="1"/>
          </p:cNvPicPr>
          <p:nvPr/>
        </p:nvPicPr>
        <p:blipFill>
          <a:blip r:embed="rId4">
            <a:biLevel thresh="75000"/>
          </a:blip>
          <a:stretch>
            <a:fillRect/>
          </a:stretch>
        </p:blipFill>
        <p:spPr>
          <a:xfrm>
            <a:off x="393746" y="2703184"/>
            <a:ext cx="463336" cy="463336"/>
          </a:xfrm>
          <a:prstGeom prst="rect">
            <a:avLst/>
          </a:prstGeom>
        </p:spPr>
      </p:pic>
      <p:sp>
        <p:nvSpPr>
          <p:cNvPr id="22" name="CuadroTexto 21">
            <a:extLst>
              <a:ext uri="{FF2B5EF4-FFF2-40B4-BE49-F238E27FC236}">
                <a16:creationId xmlns:a16="http://schemas.microsoft.com/office/drawing/2014/main" id="{F459C4A6-F1B5-D74C-27BA-0F3C306ADC6F}"/>
              </a:ext>
            </a:extLst>
          </p:cNvPr>
          <p:cNvSpPr txBox="1"/>
          <p:nvPr/>
        </p:nvSpPr>
        <p:spPr>
          <a:xfrm>
            <a:off x="857082" y="1708854"/>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Barranquilla</a:t>
            </a:r>
            <a:endParaRPr lang="es-CO" sz="1600" b="1" dirty="0">
              <a:solidFill>
                <a:schemeClr val="bg1"/>
              </a:solidFill>
            </a:endParaRPr>
          </a:p>
        </p:txBody>
      </p:sp>
      <p:pic>
        <p:nvPicPr>
          <p:cNvPr id="23" name="Imagen 22">
            <a:extLst>
              <a:ext uri="{FF2B5EF4-FFF2-40B4-BE49-F238E27FC236}">
                <a16:creationId xmlns:a16="http://schemas.microsoft.com/office/drawing/2014/main" id="{C9590B75-8FED-7638-270F-3456E8608E5E}"/>
              </a:ext>
            </a:extLst>
          </p:cNvPr>
          <p:cNvPicPr>
            <a:picLocks noChangeAspect="1"/>
          </p:cNvPicPr>
          <p:nvPr/>
        </p:nvPicPr>
        <p:blipFill>
          <a:blip r:embed="rId4">
            <a:biLevel thresh="75000"/>
          </a:blip>
          <a:stretch>
            <a:fillRect/>
          </a:stretch>
        </p:blipFill>
        <p:spPr>
          <a:xfrm>
            <a:off x="393746" y="1761195"/>
            <a:ext cx="463336" cy="463336"/>
          </a:xfrm>
          <a:prstGeom prst="rect">
            <a:avLst/>
          </a:prstGeom>
        </p:spPr>
      </p:pic>
      <p:pic>
        <p:nvPicPr>
          <p:cNvPr id="24" name="Imagen 23">
            <a:extLst>
              <a:ext uri="{FF2B5EF4-FFF2-40B4-BE49-F238E27FC236}">
                <a16:creationId xmlns:a16="http://schemas.microsoft.com/office/drawing/2014/main" id="{8F4BE0E8-4C86-8B69-84A8-6CA58B6C966A}"/>
              </a:ext>
            </a:extLst>
          </p:cNvPr>
          <p:cNvPicPr>
            <a:picLocks noChangeAspect="1"/>
          </p:cNvPicPr>
          <p:nvPr/>
        </p:nvPicPr>
        <p:blipFill>
          <a:blip r:embed="rId4">
            <a:biLevel thresh="75000"/>
          </a:blip>
          <a:stretch>
            <a:fillRect/>
          </a:stretch>
        </p:blipFill>
        <p:spPr>
          <a:xfrm>
            <a:off x="368929" y="4497557"/>
            <a:ext cx="463336" cy="463336"/>
          </a:xfrm>
          <a:prstGeom prst="rect">
            <a:avLst/>
          </a:prstGeom>
        </p:spPr>
      </p:pic>
      <p:sp>
        <p:nvSpPr>
          <p:cNvPr id="25" name="CuadroTexto 24">
            <a:extLst>
              <a:ext uri="{FF2B5EF4-FFF2-40B4-BE49-F238E27FC236}">
                <a16:creationId xmlns:a16="http://schemas.microsoft.com/office/drawing/2014/main" id="{897E9EAB-B351-D02D-23DD-CF9BBD6E16A7}"/>
              </a:ext>
            </a:extLst>
          </p:cNvPr>
          <p:cNvSpPr txBox="1"/>
          <p:nvPr/>
        </p:nvSpPr>
        <p:spPr>
          <a:xfrm>
            <a:off x="857082" y="4478429"/>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Cartagena</a:t>
            </a:r>
            <a:endParaRPr lang="es-CO" sz="1600" b="1" dirty="0">
              <a:solidFill>
                <a:schemeClr val="bg1"/>
              </a:solidFill>
            </a:endParaRPr>
          </a:p>
        </p:txBody>
      </p:sp>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4924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Del panel propuesto de 10 PDV, se logran visitar 9 pdv con 6 auditorias efectivas.  </a:t>
            </a:r>
          </a:p>
          <a:p>
            <a:pPr marL="285750" indent="-285750">
              <a:buFont typeface="Arial" panose="020B0604020202020204" pitchFamily="34" charset="0"/>
              <a:buChar char="•"/>
            </a:pPr>
            <a:r>
              <a:rPr lang="es-MX" sz="1300" dirty="0"/>
              <a:t>Detalle de la ejecucion por ciudad de acuerdo con los objetivos propuestos:</a:t>
            </a:r>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1107996"/>
          </a:xfrm>
          <a:prstGeom prst="rect">
            <a:avLst/>
          </a:prstGeom>
          <a:noFill/>
        </p:spPr>
        <p:txBody>
          <a:bodyPr wrap="square" lIns="91440" tIns="45720" rIns="91440" bIns="45720" rtlCol="0" anchor="t">
            <a:spAutoFit/>
          </a:bodyPr>
          <a:lstStyle/>
          <a:p>
            <a:r>
              <a:rPr lang="es-MX" b="1" dirty="0"/>
              <a:t>AUDITORIA - PURINA</a:t>
            </a:r>
          </a:p>
          <a:p>
            <a:r>
              <a:rPr lang="es-MX" sz="1600" dirty="0"/>
              <a:t>Noviembre</a:t>
            </a:r>
          </a:p>
          <a:p>
            <a:endParaRPr lang="es-MX" sz="1600" dirty="0"/>
          </a:p>
          <a:p>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39253" y="4280005"/>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27" name="Imagen 26">
            <a:extLst>
              <a:ext uri="{FF2B5EF4-FFF2-40B4-BE49-F238E27FC236}">
                <a16:creationId xmlns:a16="http://schemas.microsoft.com/office/drawing/2014/main" id="{DDD5B792-79E5-503D-A2D8-AB72CB4339AD}"/>
              </a:ext>
            </a:extLst>
          </p:cNvPr>
          <p:cNvPicPr>
            <a:picLocks noChangeAspect="1"/>
          </p:cNvPicPr>
          <p:nvPr/>
        </p:nvPicPr>
        <p:blipFill>
          <a:blip r:embed="rId3">
            <a:biLevel thresh="75000"/>
          </a:blip>
          <a:stretch>
            <a:fillRect/>
          </a:stretch>
        </p:blipFill>
        <p:spPr>
          <a:xfrm>
            <a:off x="368929" y="3587667"/>
            <a:ext cx="463336" cy="463336"/>
          </a:xfrm>
          <a:prstGeom prst="rect">
            <a:avLst/>
          </a:prstGeom>
        </p:spPr>
      </p:pic>
      <p:sp>
        <p:nvSpPr>
          <p:cNvPr id="28" name="CuadroTexto 27">
            <a:extLst>
              <a:ext uri="{FF2B5EF4-FFF2-40B4-BE49-F238E27FC236}">
                <a16:creationId xmlns:a16="http://schemas.microsoft.com/office/drawing/2014/main" id="{C665902B-0556-6092-4B67-82E8F374751E}"/>
              </a:ext>
            </a:extLst>
          </p:cNvPr>
          <p:cNvSpPr txBox="1"/>
          <p:nvPr/>
        </p:nvSpPr>
        <p:spPr>
          <a:xfrm>
            <a:off x="857082" y="3568539"/>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pic>
        <p:nvPicPr>
          <p:cNvPr id="30" name="Imagen 29">
            <a:extLst>
              <a:ext uri="{FF2B5EF4-FFF2-40B4-BE49-F238E27FC236}">
                <a16:creationId xmlns:a16="http://schemas.microsoft.com/office/drawing/2014/main" id="{78A8DD85-41DA-D269-6CD1-CF8C7198CDCE}"/>
              </a:ext>
            </a:extLst>
          </p:cNvPr>
          <p:cNvPicPr>
            <a:picLocks noChangeAspect="1"/>
          </p:cNvPicPr>
          <p:nvPr/>
        </p:nvPicPr>
        <p:blipFill>
          <a:blip r:embed="rId3">
            <a:biLevel thresh="75000"/>
          </a:blip>
          <a:stretch>
            <a:fillRect/>
          </a:stretch>
        </p:blipFill>
        <p:spPr>
          <a:xfrm>
            <a:off x="393746" y="5343799"/>
            <a:ext cx="463336" cy="463336"/>
          </a:xfrm>
          <a:prstGeom prst="rect">
            <a:avLst/>
          </a:prstGeom>
        </p:spPr>
      </p:pic>
      <p:sp>
        <p:nvSpPr>
          <p:cNvPr id="31" name="CuadroTexto 30">
            <a:extLst>
              <a:ext uri="{FF2B5EF4-FFF2-40B4-BE49-F238E27FC236}">
                <a16:creationId xmlns:a16="http://schemas.microsoft.com/office/drawing/2014/main" id="{012482E2-F490-736D-D513-8D13DD9270C8}"/>
              </a:ext>
            </a:extLst>
          </p:cNvPr>
          <p:cNvSpPr txBox="1"/>
          <p:nvPr/>
        </p:nvSpPr>
        <p:spPr>
          <a:xfrm>
            <a:off x="881899" y="5324671"/>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Medellín</a:t>
            </a:r>
            <a:endParaRPr lang="es-CO" sz="1600" b="1" dirty="0">
              <a:solidFill>
                <a:schemeClr val="bg1"/>
              </a:solidFill>
            </a:endParaRPr>
          </a:p>
        </p:txBody>
      </p:sp>
      <p:sp>
        <p:nvSpPr>
          <p:cNvPr id="32" name="CuadroTexto 31">
            <a:extLst>
              <a:ext uri="{FF2B5EF4-FFF2-40B4-BE49-F238E27FC236}">
                <a16:creationId xmlns:a16="http://schemas.microsoft.com/office/drawing/2014/main" id="{100684A5-3219-D58F-9FB0-033593411C70}"/>
              </a:ext>
            </a:extLst>
          </p:cNvPr>
          <p:cNvSpPr txBox="1"/>
          <p:nvPr/>
        </p:nvSpPr>
        <p:spPr>
          <a:xfrm>
            <a:off x="857082" y="2650843"/>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33" name="Imagen 32">
            <a:extLst>
              <a:ext uri="{FF2B5EF4-FFF2-40B4-BE49-F238E27FC236}">
                <a16:creationId xmlns:a16="http://schemas.microsoft.com/office/drawing/2014/main" id="{13EB0AB8-FC87-8C02-2DCB-22D0A57456F1}"/>
              </a:ext>
            </a:extLst>
          </p:cNvPr>
          <p:cNvPicPr>
            <a:picLocks noChangeAspect="1"/>
          </p:cNvPicPr>
          <p:nvPr/>
        </p:nvPicPr>
        <p:blipFill>
          <a:blip r:embed="rId3">
            <a:biLevel thresh="75000"/>
          </a:blip>
          <a:stretch>
            <a:fillRect/>
          </a:stretch>
        </p:blipFill>
        <p:spPr>
          <a:xfrm>
            <a:off x="393746" y="2703184"/>
            <a:ext cx="463336" cy="463336"/>
          </a:xfrm>
          <a:prstGeom prst="rect">
            <a:avLst/>
          </a:prstGeom>
        </p:spPr>
      </p:pic>
      <p:pic>
        <p:nvPicPr>
          <p:cNvPr id="2" name="Imagen 1">
            <a:extLst>
              <a:ext uri="{FF2B5EF4-FFF2-40B4-BE49-F238E27FC236}">
                <a16:creationId xmlns:a16="http://schemas.microsoft.com/office/drawing/2014/main" id="{9B732A12-FF84-94C5-6740-110A02762801}"/>
              </a:ext>
            </a:extLst>
          </p:cNvPr>
          <p:cNvPicPr>
            <a:picLocks noChangeAspect="1"/>
          </p:cNvPicPr>
          <p:nvPr/>
        </p:nvPicPr>
        <p:blipFill>
          <a:blip r:embed="rId4"/>
          <a:stretch>
            <a:fillRect/>
          </a:stretch>
        </p:blipFill>
        <p:spPr>
          <a:xfrm>
            <a:off x="2990334" y="1928142"/>
            <a:ext cx="8807920" cy="2122861"/>
          </a:xfrm>
          <a:prstGeom prst="rect">
            <a:avLst/>
          </a:prstGeom>
        </p:spPr>
      </p:pic>
      <p:pic>
        <p:nvPicPr>
          <p:cNvPr id="5" name="Imagen 4">
            <a:extLst>
              <a:ext uri="{FF2B5EF4-FFF2-40B4-BE49-F238E27FC236}">
                <a16:creationId xmlns:a16="http://schemas.microsoft.com/office/drawing/2014/main" id="{766F4D25-F59D-0B89-5C2D-4A9F847F99F3}"/>
              </a:ext>
            </a:extLst>
          </p:cNvPr>
          <p:cNvPicPr>
            <a:picLocks noChangeAspect="1"/>
          </p:cNvPicPr>
          <p:nvPr/>
        </p:nvPicPr>
        <p:blipFill>
          <a:blip r:embed="rId5"/>
          <a:stretch>
            <a:fillRect/>
          </a:stretch>
        </p:blipFill>
        <p:spPr>
          <a:xfrm>
            <a:off x="2990334" y="4699547"/>
            <a:ext cx="8807920" cy="1476664"/>
          </a:xfrm>
          <a:prstGeom prst="rect">
            <a:avLst/>
          </a:prstGeom>
        </p:spPr>
      </p:pic>
      <p:sp>
        <p:nvSpPr>
          <p:cNvPr id="6" name="CuadroTexto 5">
            <a:extLst>
              <a:ext uri="{FF2B5EF4-FFF2-40B4-BE49-F238E27FC236}">
                <a16:creationId xmlns:a16="http://schemas.microsoft.com/office/drawing/2014/main" id="{473FA11E-E525-F990-8AB6-C294F08B1AAB}"/>
              </a:ext>
            </a:extLst>
          </p:cNvPr>
          <p:cNvSpPr txBox="1"/>
          <p:nvPr/>
        </p:nvSpPr>
        <p:spPr>
          <a:xfrm>
            <a:off x="857082" y="1708854"/>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Barranquilla</a:t>
            </a:r>
            <a:endParaRPr lang="es-CO" sz="1600" b="1" dirty="0">
              <a:solidFill>
                <a:schemeClr val="bg1"/>
              </a:solidFill>
            </a:endParaRPr>
          </a:p>
        </p:txBody>
      </p:sp>
      <p:pic>
        <p:nvPicPr>
          <p:cNvPr id="7" name="Imagen 6">
            <a:extLst>
              <a:ext uri="{FF2B5EF4-FFF2-40B4-BE49-F238E27FC236}">
                <a16:creationId xmlns:a16="http://schemas.microsoft.com/office/drawing/2014/main" id="{1E0797E1-5B42-84A8-FA6C-53E9FB9EB13A}"/>
              </a:ext>
            </a:extLst>
          </p:cNvPr>
          <p:cNvPicPr>
            <a:picLocks noChangeAspect="1"/>
          </p:cNvPicPr>
          <p:nvPr/>
        </p:nvPicPr>
        <p:blipFill>
          <a:blip r:embed="rId3">
            <a:biLevel thresh="75000"/>
          </a:blip>
          <a:stretch>
            <a:fillRect/>
          </a:stretch>
        </p:blipFill>
        <p:spPr>
          <a:xfrm>
            <a:off x="393746" y="1761195"/>
            <a:ext cx="463336" cy="463336"/>
          </a:xfrm>
          <a:prstGeom prst="rect">
            <a:avLst/>
          </a:prstGeom>
        </p:spPr>
      </p:pic>
      <p:pic>
        <p:nvPicPr>
          <p:cNvPr id="9" name="Imagen 8">
            <a:extLst>
              <a:ext uri="{FF2B5EF4-FFF2-40B4-BE49-F238E27FC236}">
                <a16:creationId xmlns:a16="http://schemas.microsoft.com/office/drawing/2014/main" id="{22129ACB-485A-6D4D-49B7-4466C2A5959B}"/>
              </a:ext>
            </a:extLst>
          </p:cNvPr>
          <p:cNvPicPr>
            <a:picLocks noChangeAspect="1"/>
          </p:cNvPicPr>
          <p:nvPr/>
        </p:nvPicPr>
        <p:blipFill>
          <a:blip r:embed="rId3">
            <a:biLevel thresh="75000"/>
          </a:blip>
          <a:stretch>
            <a:fillRect/>
          </a:stretch>
        </p:blipFill>
        <p:spPr>
          <a:xfrm>
            <a:off x="368929" y="4497557"/>
            <a:ext cx="463336" cy="463336"/>
          </a:xfrm>
          <a:prstGeom prst="rect">
            <a:avLst/>
          </a:prstGeom>
        </p:spPr>
      </p:pic>
      <p:sp>
        <p:nvSpPr>
          <p:cNvPr id="10" name="CuadroTexto 9">
            <a:extLst>
              <a:ext uri="{FF2B5EF4-FFF2-40B4-BE49-F238E27FC236}">
                <a16:creationId xmlns:a16="http://schemas.microsoft.com/office/drawing/2014/main" id="{8C928530-3FD0-AD69-26D0-2BBAD497767B}"/>
              </a:ext>
            </a:extLst>
          </p:cNvPr>
          <p:cNvSpPr txBox="1"/>
          <p:nvPr/>
        </p:nvSpPr>
        <p:spPr>
          <a:xfrm>
            <a:off x="857082" y="4478429"/>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Cartagena</a:t>
            </a:r>
            <a:endParaRPr lang="es-CO" sz="1600" b="1" dirty="0">
              <a:solidFill>
                <a:schemeClr val="bg1"/>
              </a:solidFill>
            </a:endParaRPr>
          </a:p>
        </p:txBody>
      </p:sp>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7" y="843199"/>
            <a:ext cx="8572533" cy="830997"/>
          </a:xfrm>
          <a:prstGeom prst="rect">
            <a:avLst/>
          </a:prstGeom>
          <a:noFill/>
        </p:spPr>
        <p:txBody>
          <a:bodyPr wrap="square" lIns="91440" tIns="45720" rIns="91440" bIns="45720" rtlCol="0" anchor="t">
            <a:spAutoFit/>
          </a:bodyPr>
          <a:lstStyle/>
          <a:p>
            <a:r>
              <a:rPr lang="es-MX" sz="1600" dirty="0"/>
              <a:t>Evaluando los pdv se obtiene un resultado del Mystery de un 85% frente a los KPIS propuestos de gestión. </a:t>
            </a:r>
          </a:p>
          <a:p>
            <a:r>
              <a:rPr lang="es-MX" sz="1600" dirty="0"/>
              <a:t>Se evidencia oportunidad en todos los clústeres evaluados en cada uno de los canales. </a:t>
            </a:r>
            <a:endParaRPr lang="es-CO" sz="1600" dirty="0"/>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A9D9D877-17BF-C4B1-DBE2-2D740DCE891B}"/>
              </a:ext>
            </a:extLst>
          </p:cNvPr>
          <p:cNvSpPr txBox="1"/>
          <p:nvPr/>
        </p:nvSpPr>
        <p:spPr>
          <a:xfrm>
            <a:off x="1052118" y="5835060"/>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85%</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65" y="5037938"/>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A56C0D7C-16C6-2D3B-B087-A36CC226F911}"/>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Noviembre</a:t>
            </a:r>
            <a:endParaRPr lang="es-CO" sz="1600" dirty="0"/>
          </a:p>
        </p:txBody>
      </p:sp>
      <p:sp>
        <p:nvSpPr>
          <p:cNvPr id="29" name="CuadroTexto 28">
            <a:extLst>
              <a:ext uri="{FF2B5EF4-FFF2-40B4-BE49-F238E27FC236}">
                <a16:creationId xmlns:a16="http://schemas.microsoft.com/office/drawing/2014/main" id="{7CF8D2E1-1556-C801-9A4E-C3B7E8B3951B}"/>
              </a:ext>
            </a:extLst>
          </p:cNvPr>
          <p:cNvSpPr txBox="1"/>
          <p:nvPr/>
        </p:nvSpPr>
        <p:spPr>
          <a:xfrm>
            <a:off x="2946881" y="5722413"/>
            <a:ext cx="8076146" cy="584775"/>
          </a:xfrm>
          <a:prstGeom prst="rect">
            <a:avLst/>
          </a:prstGeom>
          <a:noFill/>
          <a:ln w="3175">
            <a:solidFill>
              <a:schemeClr val="tx1"/>
            </a:solidFill>
          </a:ln>
        </p:spPr>
        <p:txBody>
          <a:bodyPr wrap="square" lIns="91440" tIns="45720" rIns="91440" bIns="45720" rtlCol="0" anchor="t">
            <a:spAutoFit/>
          </a:bodyPr>
          <a:lstStyle/>
          <a:p>
            <a:pPr algn="just"/>
            <a:r>
              <a:rPr lang="es-MX" sz="1600" dirty="0"/>
              <a:t>Las novedades identificadas se presentan sobre todo en los PDV del canal moderno, y se relacionan con la falta de comunicación de las actividades del mes y ejecución en el PDV.</a:t>
            </a:r>
            <a:endParaRPr lang="es-MX" sz="1600" dirty="0">
              <a:highlight>
                <a:srgbClr val="FFFF00"/>
              </a:highlight>
              <a:latin typeface="+mj-lt"/>
            </a:endParaRPr>
          </a:p>
        </p:txBody>
      </p:sp>
      <p:graphicFrame>
        <p:nvGraphicFramePr>
          <p:cNvPr id="21" name="Gráfico 20">
            <a:extLst>
              <a:ext uri="{FF2B5EF4-FFF2-40B4-BE49-F238E27FC236}">
                <a16:creationId xmlns:a16="http://schemas.microsoft.com/office/drawing/2014/main" id="{D999FE1A-6116-4188-4598-09A426373573}"/>
              </a:ext>
            </a:extLst>
          </p:cNvPr>
          <p:cNvGraphicFramePr/>
          <p:nvPr>
            <p:extLst>
              <p:ext uri="{D42A27DB-BD31-4B8C-83A1-F6EECF244321}">
                <p14:modId xmlns:p14="http://schemas.microsoft.com/office/powerpoint/2010/main" val="2270015410"/>
              </p:ext>
            </p:extLst>
          </p:nvPr>
        </p:nvGraphicFramePr>
        <p:xfrm>
          <a:off x="440403" y="5324657"/>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2" name="Imagen 1">
            <a:extLst>
              <a:ext uri="{FF2B5EF4-FFF2-40B4-BE49-F238E27FC236}">
                <a16:creationId xmlns:a16="http://schemas.microsoft.com/office/drawing/2014/main" id="{4554E983-80DF-BC15-F88F-1C68FADF75F9}"/>
              </a:ext>
            </a:extLst>
          </p:cNvPr>
          <p:cNvPicPr>
            <a:picLocks noChangeAspect="1"/>
          </p:cNvPicPr>
          <p:nvPr/>
        </p:nvPicPr>
        <p:blipFill>
          <a:blip r:embed="rId5">
            <a:biLevel thresh="75000"/>
          </a:blip>
          <a:stretch>
            <a:fillRect/>
          </a:stretch>
        </p:blipFill>
        <p:spPr>
          <a:xfrm>
            <a:off x="368931" y="3365355"/>
            <a:ext cx="463336" cy="463336"/>
          </a:xfrm>
          <a:prstGeom prst="rect">
            <a:avLst/>
          </a:prstGeom>
        </p:spPr>
      </p:pic>
      <p:sp>
        <p:nvSpPr>
          <p:cNvPr id="3" name="CuadroTexto 2">
            <a:extLst>
              <a:ext uri="{FF2B5EF4-FFF2-40B4-BE49-F238E27FC236}">
                <a16:creationId xmlns:a16="http://schemas.microsoft.com/office/drawing/2014/main" id="{4D52E933-E587-BB93-378E-A37F6DAD9FAF}"/>
              </a:ext>
            </a:extLst>
          </p:cNvPr>
          <p:cNvSpPr txBox="1"/>
          <p:nvPr/>
        </p:nvSpPr>
        <p:spPr>
          <a:xfrm>
            <a:off x="857084" y="334622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Cartagena</a:t>
            </a:r>
            <a:endParaRPr lang="es-CO" sz="1600" b="1" dirty="0">
              <a:solidFill>
                <a:schemeClr val="bg1"/>
              </a:solidFill>
            </a:endParaRPr>
          </a:p>
        </p:txBody>
      </p:sp>
      <p:pic>
        <p:nvPicPr>
          <p:cNvPr id="11" name="Imagen 10">
            <a:extLst>
              <a:ext uri="{FF2B5EF4-FFF2-40B4-BE49-F238E27FC236}">
                <a16:creationId xmlns:a16="http://schemas.microsoft.com/office/drawing/2014/main" id="{30FF753C-EF77-0939-8C6D-C3F84D767C8D}"/>
              </a:ext>
            </a:extLst>
          </p:cNvPr>
          <p:cNvPicPr>
            <a:picLocks noChangeAspect="1"/>
          </p:cNvPicPr>
          <p:nvPr/>
        </p:nvPicPr>
        <p:blipFill>
          <a:blip r:embed="rId5">
            <a:biLevel thresh="75000"/>
          </a:blip>
          <a:stretch>
            <a:fillRect/>
          </a:stretch>
        </p:blipFill>
        <p:spPr>
          <a:xfrm>
            <a:off x="368931" y="4230710"/>
            <a:ext cx="463336" cy="463336"/>
          </a:xfrm>
          <a:prstGeom prst="rect">
            <a:avLst/>
          </a:prstGeom>
        </p:spPr>
      </p:pic>
      <p:sp>
        <p:nvSpPr>
          <p:cNvPr id="14" name="CuadroTexto 13">
            <a:extLst>
              <a:ext uri="{FF2B5EF4-FFF2-40B4-BE49-F238E27FC236}">
                <a16:creationId xmlns:a16="http://schemas.microsoft.com/office/drawing/2014/main" id="{C5BA9471-864D-6BA4-1B13-D6A3D6DD3EC5}"/>
              </a:ext>
            </a:extLst>
          </p:cNvPr>
          <p:cNvSpPr txBox="1"/>
          <p:nvPr/>
        </p:nvSpPr>
        <p:spPr>
          <a:xfrm>
            <a:off x="857084" y="4211582"/>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Medellín</a:t>
            </a:r>
            <a:endParaRPr lang="es-CO" sz="1600" b="1" dirty="0">
              <a:solidFill>
                <a:schemeClr val="bg1"/>
              </a:solidFill>
            </a:endParaRPr>
          </a:p>
        </p:txBody>
      </p:sp>
      <p:sp>
        <p:nvSpPr>
          <p:cNvPr id="15" name="CuadroTexto 14">
            <a:extLst>
              <a:ext uri="{FF2B5EF4-FFF2-40B4-BE49-F238E27FC236}">
                <a16:creationId xmlns:a16="http://schemas.microsoft.com/office/drawing/2014/main" id="{AB1137E0-406C-0D0C-B985-518E5459DB43}"/>
              </a:ext>
            </a:extLst>
          </p:cNvPr>
          <p:cNvSpPr txBox="1"/>
          <p:nvPr/>
        </p:nvSpPr>
        <p:spPr>
          <a:xfrm>
            <a:off x="857084" y="2428531"/>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pic>
        <p:nvPicPr>
          <p:cNvPr id="16" name="Imagen 15">
            <a:extLst>
              <a:ext uri="{FF2B5EF4-FFF2-40B4-BE49-F238E27FC236}">
                <a16:creationId xmlns:a16="http://schemas.microsoft.com/office/drawing/2014/main" id="{13C233BE-69CD-8DC1-EC2B-975ADD5A03A0}"/>
              </a:ext>
            </a:extLst>
          </p:cNvPr>
          <p:cNvPicPr>
            <a:picLocks noChangeAspect="1"/>
          </p:cNvPicPr>
          <p:nvPr/>
        </p:nvPicPr>
        <p:blipFill>
          <a:blip r:embed="rId5">
            <a:biLevel thresh="75000"/>
          </a:blip>
          <a:stretch>
            <a:fillRect/>
          </a:stretch>
        </p:blipFill>
        <p:spPr>
          <a:xfrm>
            <a:off x="393748" y="2480872"/>
            <a:ext cx="463336" cy="463336"/>
          </a:xfrm>
          <a:prstGeom prst="rect">
            <a:avLst/>
          </a:prstGeom>
        </p:spPr>
      </p:pic>
      <p:sp>
        <p:nvSpPr>
          <p:cNvPr id="17" name="CuadroTexto 16">
            <a:extLst>
              <a:ext uri="{FF2B5EF4-FFF2-40B4-BE49-F238E27FC236}">
                <a16:creationId xmlns:a16="http://schemas.microsoft.com/office/drawing/2014/main" id="{C06A2CAD-D869-1D64-F111-0F078FC33A42}"/>
              </a:ext>
            </a:extLst>
          </p:cNvPr>
          <p:cNvSpPr txBox="1"/>
          <p:nvPr/>
        </p:nvSpPr>
        <p:spPr>
          <a:xfrm>
            <a:off x="857084" y="1486542"/>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Barranquilla</a:t>
            </a:r>
            <a:endParaRPr lang="es-CO" sz="1600" b="1" dirty="0">
              <a:solidFill>
                <a:schemeClr val="bg1"/>
              </a:solidFill>
            </a:endParaRPr>
          </a:p>
        </p:txBody>
      </p:sp>
      <p:pic>
        <p:nvPicPr>
          <p:cNvPr id="18" name="Imagen 17">
            <a:extLst>
              <a:ext uri="{FF2B5EF4-FFF2-40B4-BE49-F238E27FC236}">
                <a16:creationId xmlns:a16="http://schemas.microsoft.com/office/drawing/2014/main" id="{32A08C1C-5C73-C5AD-DA7D-80E2F7FB655D}"/>
              </a:ext>
            </a:extLst>
          </p:cNvPr>
          <p:cNvPicPr>
            <a:picLocks noChangeAspect="1"/>
          </p:cNvPicPr>
          <p:nvPr/>
        </p:nvPicPr>
        <p:blipFill>
          <a:blip r:embed="rId5">
            <a:biLevel thresh="75000"/>
          </a:blip>
          <a:stretch>
            <a:fillRect/>
          </a:stretch>
        </p:blipFill>
        <p:spPr>
          <a:xfrm>
            <a:off x="393748" y="1538883"/>
            <a:ext cx="463336" cy="463336"/>
          </a:xfrm>
          <a:prstGeom prst="rect">
            <a:avLst/>
          </a:prstGeom>
        </p:spPr>
      </p:pic>
      <p:pic>
        <p:nvPicPr>
          <p:cNvPr id="20" name="Imagen 19">
            <a:extLst>
              <a:ext uri="{FF2B5EF4-FFF2-40B4-BE49-F238E27FC236}">
                <a16:creationId xmlns:a16="http://schemas.microsoft.com/office/drawing/2014/main" id="{EF093957-EBB6-5B61-6194-2824A9950DE7}"/>
              </a:ext>
            </a:extLst>
          </p:cNvPr>
          <p:cNvPicPr>
            <a:picLocks noChangeAspect="1"/>
          </p:cNvPicPr>
          <p:nvPr/>
        </p:nvPicPr>
        <p:blipFill>
          <a:blip r:embed="rId6"/>
          <a:stretch>
            <a:fillRect/>
          </a:stretch>
        </p:blipFill>
        <p:spPr>
          <a:xfrm>
            <a:off x="2946882" y="3699942"/>
            <a:ext cx="8076145" cy="1753675"/>
          </a:xfrm>
          <a:prstGeom prst="rect">
            <a:avLst/>
          </a:prstGeom>
        </p:spPr>
      </p:pic>
      <p:pic>
        <p:nvPicPr>
          <p:cNvPr id="23" name="Imagen 22">
            <a:extLst>
              <a:ext uri="{FF2B5EF4-FFF2-40B4-BE49-F238E27FC236}">
                <a16:creationId xmlns:a16="http://schemas.microsoft.com/office/drawing/2014/main" id="{2920E3CC-29B4-A9F0-6765-01C68E1B56B3}"/>
              </a:ext>
            </a:extLst>
          </p:cNvPr>
          <p:cNvPicPr>
            <a:picLocks noChangeAspect="1"/>
          </p:cNvPicPr>
          <p:nvPr/>
        </p:nvPicPr>
        <p:blipFill>
          <a:blip r:embed="rId7"/>
          <a:stretch>
            <a:fillRect/>
          </a:stretch>
        </p:blipFill>
        <p:spPr>
          <a:xfrm>
            <a:off x="2955843" y="1778929"/>
            <a:ext cx="8076147" cy="1753676"/>
          </a:xfrm>
          <a:prstGeom prst="rect">
            <a:avLst/>
          </a:prstGeom>
        </p:spPr>
      </p:pic>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CA72-C7DC-7745-1CC6-BDBCF856249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EE8686E-B91A-9E6B-62A7-CD883591BEB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25997A0A-64EC-2C6D-0BAF-049280E08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70A9143-A4D1-C278-F938-ABF6B4364DBE}"/>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66A5E136-7154-3260-1737-F7AE658A220B}"/>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MEGAPLAZA VILLA MARIA -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44A7B6B1-B361-B3A7-C3F5-E70E2BA9AF3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8" name="CuadroTexto 17">
            <a:extLst>
              <a:ext uri="{FF2B5EF4-FFF2-40B4-BE49-F238E27FC236}">
                <a16:creationId xmlns:a16="http://schemas.microsoft.com/office/drawing/2014/main" id="{FB1B2FE3-5A21-7072-5A93-D55ED8223954}"/>
              </a:ext>
            </a:extLst>
          </p:cNvPr>
          <p:cNvSpPr txBox="1"/>
          <p:nvPr/>
        </p:nvSpPr>
        <p:spPr>
          <a:xfrm>
            <a:off x="3020825" y="4931352"/>
            <a:ext cx="7271359" cy="923330"/>
          </a:xfrm>
          <a:prstGeom prst="rect">
            <a:avLst/>
          </a:prstGeom>
          <a:noFill/>
        </p:spPr>
        <p:txBody>
          <a:bodyPr wrap="square">
            <a:spAutoFit/>
          </a:bodyPr>
          <a:lstStyle/>
          <a:p>
            <a:r>
              <a:rPr lang="es-CO" u="sng" dirty="0">
                <a:hlinkClick r:id="rId3"/>
              </a:rPr>
              <a:t>https://drive.google.com/file/d/1aYzlwa-2B9XtTNWqHHV6n0FtYZGqJ0cB/view?usp=drive_link</a:t>
            </a:r>
            <a:endParaRPr lang="es-CO" u="sng" dirty="0"/>
          </a:p>
          <a:p>
            <a:endParaRPr lang="es-CO" dirty="0"/>
          </a:p>
        </p:txBody>
      </p:sp>
      <p:sp>
        <p:nvSpPr>
          <p:cNvPr id="3" name="CuadroTexto 2">
            <a:extLst>
              <a:ext uri="{FF2B5EF4-FFF2-40B4-BE49-F238E27FC236}">
                <a16:creationId xmlns:a16="http://schemas.microsoft.com/office/drawing/2014/main" id="{EC78A946-812D-AACC-F9D6-6E0EB8E2D2AA}"/>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pic>
        <p:nvPicPr>
          <p:cNvPr id="6" name="Imagen 5">
            <a:extLst>
              <a:ext uri="{FF2B5EF4-FFF2-40B4-BE49-F238E27FC236}">
                <a16:creationId xmlns:a16="http://schemas.microsoft.com/office/drawing/2014/main" id="{3B96B218-80EF-9245-BF05-C98B5793327F}"/>
              </a:ext>
            </a:extLst>
          </p:cNvPr>
          <p:cNvPicPr>
            <a:picLocks noChangeAspect="1"/>
          </p:cNvPicPr>
          <p:nvPr/>
        </p:nvPicPr>
        <p:blipFill>
          <a:blip r:embed="rId4"/>
          <a:stretch>
            <a:fillRect/>
          </a:stretch>
        </p:blipFill>
        <p:spPr>
          <a:xfrm>
            <a:off x="3020824" y="1103160"/>
            <a:ext cx="7271361" cy="1848651"/>
          </a:xfrm>
          <a:prstGeom prst="rect">
            <a:avLst/>
          </a:prstGeom>
        </p:spPr>
      </p:pic>
      <p:sp>
        <p:nvSpPr>
          <p:cNvPr id="11" name="CuadroTexto 10">
            <a:extLst>
              <a:ext uri="{FF2B5EF4-FFF2-40B4-BE49-F238E27FC236}">
                <a16:creationId xmlns:a16="http://schemas.microsoft.com/office/drawing/2014/main" id="{6B528D5E-2881-D16B-C9B7-40968D595715}"/>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2" name="CuadroTexto 11">
            <a:extLst>
              <a:ext uri="{FF2B5EF4-FFF2-40B4-BE49-F238E27FC236}">
                <a16:creationId xmlns:a16="http://schemas.microsoft.com/office/drawing/2014/main" id="{7A8839C6-D8EE-6AD3-22C7-F9BFCD494DD7}"/>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4" name="Imagen 13">
            <a:extLst>
              <a:ext uri="{FF2B5EF4-FFF2-40B4-BE49-F238E27FC236}">
                <a16:creationId xmlns:a16="http://schemas.microsoft.com/office/drawing/2014/main" id="{9FA6951D-F398-08F1-31FE-29E0764DA21C}"/>
              </a:ext>
            </a:extLst>
          </p:cNvPr>
          <p:cNvPicPr>
            <a:picLocks noChangeAspect="1"/>
          </p:cNvPicPr>
          <p:nvPr/>
        </p:nvPicPr>
        <p:blipFill>
          <a:blip r:embed="rId5">
            <a:biLevel thresh="75000"/>
          </a:blip>
          <a:stretch>
            <a:fillRect/>
          </a:stretch>
        </p:blipFill>
        <p:spPr>
          <a:xfrm>
            <a:off x="315162" y="2319406"/>
            <a:ext cx="463336" cy="463336"/>
          </a:xfrm>
          <a:prstGeom prst="rect">
            <a:avLst/>
          </a:prstGeom>
        </p:spPr>
      </p:pic>
      <p:sp>
        <p:nvSpPr>
          <p:cNvPr id="19" name="CuadroTexto 18">
            <a:extLst>
              <a:ext uri="{FF2B5EF4-FFF2-40B4-BE49-F238E27FC236}">
                <a16:creationId xmlns:a16="http://schemas.microsoft.com/office/drawing/2014/main" id="{65440AAD-38DC-5E8D-EEA7-91B425579C09}"/>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20" name="Gráfico 19">
            <a:extLst>
              <a:ext uri="{FF2B5EF4-FFF2-40B4-BE49-F238E27FC236}">
                <a16:creationId xmlns:a16="http://schemas.microsoft.com/office/drawing/2014/main" id="{EB013E99-F169-9E30-F888-703EE0022EF6}"/>
              </a:ext>
            </a:extLst>
          </p:cNvPr>
          <p:cNvGraphicFramePr/>
          <p:nvPr>
            <p:extLst>
              <p:ext uri="{D42A27DB-BD31-4B8C-83A1-F6EECF244321}">
                <p14:modId xmlns:p14="http://schemas.microsoft.com/office/powerpoint/2010/main" val="1247253717"/>
              </p:ext>
            </p:extLst>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231623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13-FD20-5AE7-5E18-842B9C3D630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5270F98-7841-EF25-3F17-83E370D9CD4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82EA71-6F65-7D41-B8F4-D4C4A6EAB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A5748A5-1668-EB73-F07A-26108C3FA53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34C5FF2A-B91C-186B-3D4B-C76ECB4B9870}"/>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EL CAMPANAZO - BARRANQUILLA</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54B255-D269-ACBD-3343-65EFECE575E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1BBFA755-0142-7649-A29A-918855F23B9F}"/>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6888C449-0716-96AD-3B34-F79A73842454}"/>
              </a:ext>
            </a:extLst>
          </p:cNvPr>
          <p:cNvSpPr txBox="1"/>
          <p:nvPr/>
        </p:nvSpPr>
        <p:spPr>
          <a:xfrm>
            <a:off x="3020824" y="4907568"/>
            <a:ext cx="7271359" cy="923330"/>
          </a:xfrm>
          <a:prstGeom prst="rect">
            <a:avLst/>
          </a:prstGeom>
          <a:noFill/>
        </p:spPr>
        <p:txBody>
          <a:bodyPr wrap="square">
            <a:spAutoFit/>
          </a:bodyPr>
          <a:lstStyle/>
          <a:p>
            <a:r>
              <a:rPr lang="es-CO" u="sng" dirty="0">
                <a:hlinkClick r:id="rId3"/>
              </a:rPr>
              <a:t>https://drive.google.com/file/d/19W2atz-ybVnndCb8zvl2q_JinhxMACo7/view?usp=drive_link</a:t>
            </a:r>
            <a:endParaRPr lang="es-CO" u="sng" dirty="0"/>
          </a:p>
          <a:p>
            <a:endParaRPr lang="es-CO" dirty="0"/>
          </a:p>
        </p:txBody>
      </p:sp>
      <p:sp>
        <p:nvSpPr>
          <p:cNvPr id="5" name="CuadroTexto 4">
            <a:extLst>
              <a:ext uri="{FF2B5EF4-FFF2-40B4-BE49-F238E27FC236}">
                <a16:creationId xmlns:a16="http://schemas.microsoft.com/office/drawing/2014/main" id="{2F42A6AA-9A48-3BE0-4388-CAE4AF808B5C}"/>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552091D4-A685-5ACA-91C5-050EEF0B45E0}"/>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00266C6D-698C-D608-CF72-74128B7F32B0}"/>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0D268E11-2063-DF35-5480-A53E0364DC24}"/>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A3AE9627-2BB3-ED2C-2C0E-5D34A80F2C6B}"/>
              </a:ext>
            </a:extLst>
          </p:cNvPr>
          <p:cNvGraphicFramePr/>
          <p:nvPr>
            <p:extLst>
              <p:ext uri="{D42A27DB-BD31-4B8C-83A1-F6EECF244321}">
                <p14:modId xmlns:p14="http://schemas.microsoft.com/office/powerpoint/2010/main" val="915169053"/>
              </p:ext>
            </p:extLst>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 name="Imagen 1">
            <a:extLst>
              <a:ext uri="{FF2B5EF4-FFF2-40B4-BE49-F238E27FC236}">
                <a16:creationId xmlns:a16="http://schemas.microsoft.com/office/drawing/2014/main" id="{CAEE1E65-570F-988C-E58A-287137585E79}"/>
              </a:ext>
            </a:extLst>
          </p:cNvPr>
          <p:cNvPicPr>
            <a:picLocks noChangeAspect="1"/>
          </p:cNvPicPr>
          <p:nvPr/>
        </p:nvPicPr>
        <p:blipFill>
          <a:blip r:embed="rId6"/>
          <a:stretch>
            <a:fillRect/>
          </a:stretch>
        </p:blipFill>
        <p:spPr>
          <a:xfrm>
            <a:off x="3020824" y="1103160"/>
            <a:ext cx="7271361" cy="1848651"/>
          </a:xfrm>
          <a:prstGeom prst="rect">
            <a:avLst/>
          </a:prstGeom>
        </p:spPr>
      </p:pic>
    </p:spTree>
    <p:extLst>
      <p:ext uri="{BB962C8B-B14F-4D97-AF65-F5344CB8AC3E}">
        <p14:creationId xmlns:p14="http://schemas.microsoft.com/office/powerpoint/2010/main" val="927672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56E4A-0BB6-3E58-51B7-F292C0D10A0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D255E77-C79A-2EF8-7F71-901B9CAEBDA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D82DF5A-D311-DF88-2E5E-4360A5D08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3B2448EB-EBF9-D659-933D-3B849B04F8B9}"/>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BCCC925C-A107-9CC2-0BA2-288C63F96D2A}"/>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DIVERPOOL MULTIPLAZA - BOGOTÁ</a:t>
            </a: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62A05D8F-42E9-6B01-BC26-9592AC87BAF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3430025F-DFB5-1990-FC5D-6361A82D3CB5}"/>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89FDEE15-832F-919D-5FED-35FBCA31F2B7}"/>
              </a:ext>
            </a:extLst>
          </p:cNvPr>
          <p:cNvSpPr txBox="1"/>
          <p:nvPr/>
        </p:nvSpPr>
        <p:spPr>
          <a:xfrm>
            <a:off x="3020824" y="4858078"/>
            <a:ext cx="7271359" cy="923330"/>
          </a:xfrm>
          <a:prstGeom prst="rect">
            <a:avLst/>
          </a:prstGeom>
          <a:noFill/>
        </p:spPr>
        <p:txBody>
          <a:bodyPr wrap="square">
            <a:spAutoFit/>
          </a:bodyPr>
          <a:lstStyle/>
          <a:p>
            <a:r>
              <a:rPr lang="es-CO" u="sng" dirty="0">
                <a:hlinkClick r:id="rId3"/>
              </a:rPr>
              <a:t>https://drive.google.com/file/d/17t9T4-4yuuGWicMWnoujDKUlS_LLv411/view?usp=drive_link</a:t>
            </a:r>
            <a:endParaRPr lang="es-CO" u="sng" dirty="0"/>
          </a:p>
          <a:p>
            <a:endParaRPr lang="es-CO" dirty="0"/>
          </a:p>
        </p:txBody>
      </p:sp>
      <p:sp>
        <p:nvSpPr>
          <p:cNvPr id="5" name="CuadroTexto 4">
            <a:extLst>
              <a:ext uri="{FF2B5EF4-FFF2-40B4-BE49-F238E27FC236}">
                <a16:creationId xmlns:a16="http://schemas.microsoft.com/office/drawing/2014/main" id="{5F4B3431-ADDB-9B07-01A0-603BABF886AF}"/>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1E6F089D-892A-E2E4-30AE-5210DBC1B935}"/>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87F6AB6A-8882-0076-B371-2129C67D939A}"/>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53EFB96F-F7F6-7D52-E03A-32F2E7019EA0}"/>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5EB91BBA-EABF-7F97-8D44-9CA20AB5F038}"/>
              </a:ext>
            </a:extLst>
          </p:cNvPr>
          <p:cNvGraphicFramePr/>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 name="Imagen 1">
            <a:extLst>
              <a:ext uri="{FF2B5EF4-FFF2-40B4-BE49-F238E27FC236}">
                <a16:creationId xmlns:a16="http://schemas.microsoft.com/office/drawing/2014/main" id="{0CB62EE4-E389-4E1C-E162-9194532123B5}"/>
              </a:ext>
            </a:extLst>
          </p:cNvPr>
          <p:cNvPicPr>
            <a:picLocks noChangeAspect="1"/>
          </p:cNvPicPr>
          <p:nvPr/>
        </p:nvPicPr>
        <p:blipFill>
          <a:blip r:embed="rId6"/>
          <a:stretch>
            <a:fillRect/>
          </a:stretch>
        </p:blipFill>
        <p:spPr>
          <a:xfrm>
            <a:off x="3020822" y="1176434"/>
            <a:ext cx="7271361" cy="1848651"/>
          </a:xfrm>
          <a:prstGeom prst="rect">
            <a:avLst/>
          </a:prstGeom>
        </p:spPr>
      </p:pic>
    </p:spTree>
    <p:extLst>
      <p:ext uri="{BB962C8B-B14F-4D97-AF65-F5344CB8AC3E}">
        <p14:creationId xmlns:p14="http://schemas.microsoft.com/office/powerpoint/2010/main" val="2889885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06A1B-E456-26BB-1AF2-6C2CB533CA5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82C1985-410C-9553-5885-5802CC657D4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05153E9-7639-51F7-21D9-900A1B100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68C90A6B-1169-CF13-567C-425DB098762F}"/>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CA1F2FAE-8B57-0936-8041-655FB74C56F2}"/>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MASCOCLINICA - CARTAGENA</a:t>
            </a: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C7E1F476-1AC5-357A-4BE2-0CDFF285050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F23FFA70-4AA2-24C1-069F-6B943C10B4EF}"/>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99C185CD-5DB2-93ED-6053-E733EB1329BE}"/>
              </a:ext>
            </a:extLst>
          </p:cNvPr>
          <p:cNvSpPr txBox="1"/>
          <p:nvPr/>
        </p:nvSpPr>
        <p:spPr>
          <a:xfrm>
            <a:off x="3020824" y="4858078"/>
            <a:ext cx="7271359" cy="923330"/>
          </a:xfrm>
          <a:prstGeom prst="rect">
            <a:avLst/>
          </a:prstGeom>
          <a:noFill/>
        </p:spPr>
        <p:txBody>
          <a:bodyPr wrap="square">
            <a:spAutoFit/>
          </a:bodyPr>
          <a:lstStyle/>
          <a:p>
            <a:r>
              <a:rPr lang="es-CO" u="sng" dirty="0">
                <a:hlinkClick r:id="rId3"/>
              </a:rPr>
              <a:t>https://drive.google.com/file/d/1URua1JtM-8DgClKO0ttpmLehzXf3mgq_/view?usp=drive_link</a:t>
            </a:r>
            <a:endParaRPr lang="es-CO" u="sng" dirty="0"/>
          </a:p>
          <a:p>
            <a:endParaRPr lang="es-CO" dirty="0"/>
          </a:p>
        </p:txBody>
      </p:sp>
      <p:sp>
        <p:nvSpPr>
          <p:cNvPr id="5" name="CuadroTexto 4">
            <a:extLst>
              <a:ext uri="{FF2B5EF4-FFF2-40B4-BE49-F238E27FC236}">
                <a16:creationId xmlns:a16="http://schemas.microsoft.com/office/drawing/2014/main" id="{BDAA7DD9-A67A-4648-D53F-32B7D2FFF2B5}"/>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8F3401C4-3EF1-A2C1-FD65-82E50534F12B}"/>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B1DC120C-F1DB-8A82-48B8-B09C26304767}"/>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47435D61-6C46-95F8-7A5F-4204433C3511}"/>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Cartagena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A488469C-CDB4-9117-CFE5-B89CF9AD9FC7}"/>
              </a:ext>
            </a:extLst>
          </p:cNvPr>
          <p:cNvGraphicFramePr/>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 name="Imagen 1">
            <a:extLst>
              <a:ext uri="{FF2B5EF4-FFF2-40B4-BE49-F238E27FC236}">
                <a16:creationId xmlns:a16="http://schemas.microsoft.com/office/drawing/2014/main" id="{F0D59E67-6731-A58E-69F2-E0F6240775B0}"/>
              </a:ext>
            </a:extLst>
          </p:cNvPr>
          <p:cNvPicPr>
            <a:picLocks noChangeAspect="1"/>
          </p:cNvPicPr>
          <p:nvPr/>
        </p:nvPicPr>
        <p:blipFill>
          <a:blip r:embed="rId6"/>
          <a:stretch>
            <a:fillRect/>
          </a:stretch>
        </p:blipFill>
        <p:spPr>
          <a:xfrm>
            <a:off x="3020822" y="1176434"/>
            <a:ext cx="7271361" cy="1848651"/>
          </a:xfrm>
          <a:prstGeom prst="rect">
            <a:avLst/>
          </a:prstGeom>
        </p:spPr>
      </p:pic>
    </p:spTree>
    <p:extLst>
      <p:ext uri="{BB962C8B-B14F-4D97-AF65-F5344CB8AC3E}">
        <p14:creationId xmlns:p14="http://schemas.microsoft.com/office/powerpoint/2010/main" val="614563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335F-FB8D-F752-3259-09E30377712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2F5901A-FA45-B208-2D9A-B26901CF5AE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BD8F4FD-01D1-0D2D-E18E-E6F7147428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6512674E-57FF-B04C-DA0B-89AE0EDD4F38}"/>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5028895C-4B7A-A6B5-101E-392DCA14DAEF}"/>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HOMECENTER SAN JUAN - MEDELLIN</a:t>
            </a: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792BB537-1EB5-32E1-A91E-B71D00E6B195}"/>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B26835EB-8E6B-A0A0-3AE5-29D784ED8F36}"/>
              </a:ext>
            </a:extLst>
          </p:cNvPr>
          <p:cNvSpPr txBox="1"/>
          <p:nvPr/>
        </p:nvSpPr>
        <p:spPr>
          <a:xfrm>
            <a:off x="3020824" y="3279862"/>
            <a:ext cx="7271360" cy="2062103"/>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el uso de</a:t>
            </a:r>
            <a:r>
              <a:rPr lang="es-ES" sz="1600" dirty="0"/>
              <a:t> la camisa de forma inapropiada (remangada), tiene tatuajes visibles, la camisa por fuera del pantalón, no tiene todos los precios en las referencias, hay desconocimiento de los infaltables del PDV, no tiene claro el % de participación ni de ventas. </a:t>
            </a:r>
          </a:p>
          <a:p>
            <a:pPr marL="285750" indent="-285750" algn="just">
              <a:buFont typeface="Arial" panose="020B0604020202020204" pitchFamily="34" charset="0"/>
              <a:buChar char="•"/>
            </a:pPr>
            <a:r>
              <a:rPr lang="es-ES" sz="1600" dirty="0"/>
              <a:t>El PDV tiene promociones y amarres, sin embargo, no hay material POP para llamar la atención de los clientes</a:t>
            </a:r>
            <a:endParaRPr lang="es-MX" sz="1600" dirty="0"/>
          </a:p>
        </p:txBody>
      </p:sp>
      <p:sp>
        <p:nvSpPr>
          <p:cNvPr id="12" name="CuadroTexto 11">
            <a:extLst>
              <a:ext uri="{FF2B5EF4-FFF2-40B4-BE49-F238E27FC236}">
                <a16:creationId xmlns:a16="http://schemas.microsoft.com/office/drawing/2014/main" id="{347FFD03-3344-4DB9-EC3C-C29696517036}"/>
              </a:ext>
            </a:extLst>
          </p:cNvPr>
          <p:cNvSpPr txBox="1"/>
          <p:nvPr/>
        </p:nvSpPr>
        <p:spPr>
          <a:xfrm>
            <a:off x="3020824" y="5596742"/>
            <a:ext cx="7271359" cy="923330"/>
          </a:xfrm>
          <a:prstGeom prst="rect">
            <a:avLst/>
          </a:prstGeom>
          <a:noFill/>
        </p:spPr>
        <p:txBody>
          <a:bodyPr wrap="square">
            <a:spAutoFit/>
          </a:bodyPr>
          <a:lstStyle/>
          <a:p>
            <a:r>
              <a:rPr lang="es-CO" u="sng" dirty="0">
                <a:hlinkClick r:id="rId3"/>
              </a:rPr>
              <a:t>https://drive.google.com/file/d/1Bp89qee8tRM4AHM20f348NrTfJZ98bW6/view?usp=drive_link</a:t>
            </a:r>
            <a:endParaRPr lang="es-CO" u="sng" dirty="0"/>
          </a:p>
          <a:p>
            <a:endParaRPr lang="es-CO" dirty="0"/>
          </a:p>
        </p:txBody>
      </p:sp>
      <p:sp>
        <p:nvSpPr>
          <p:cNvPr id="5" name="CuadroTexto 4">
            <a:extLst>
              <a:ext uri="{FF2B5EF4-FFF2-40B4-BE49-F238E27FC236}">
                <a16:creationId xmlns:a16="http://schemas.microsoft.com/office/drawing/2014/main" id="{4ACA3E9B-860B-9875-530E-B952EE5DCD73}"/>
              </a:ext>
            </a:extLst>
          </p:cNvPr>
          <p:cNvSpPr txBox="1"/>
          <p:nvPr/>
        </p:nvSpPr>
        <p:spPr>
          <a:xfrm>
            <a:off x="1067106" y="445796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47%</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73A48117-533C-7BDF-D83E-8F376A34D8D6}"/>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990F100A-CE1B-9D38-FA78-0027E1CB2A81}"/>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00757A08-6AB9-C196-3326-B2D138B69D35}"/>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Medellín</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9503049A-D24D-DA42-8BBF-9A0045F1BC0C}"/>
              </a:ext>
            </a:extLst>
          </p:cNvPr>
          <p:cNvGraphicFramePr/>
          <p:nvPr>
            <p:extLst>
              <p:ext uri="{D42A27DB-BD31-4B8C-83A1-F6EECF244321}">
                <p14:modId xmlns:p14="http://schemas.microsoft.com/office/powerpoint/2010/main" val="2038973612"/>
              </p:ext>
            </p:extLst>
          </p:nvPr>
        </p:nvGraphicFramePr>
        <p:xfrm>
          <a:off x="440403" y="3941581"/>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3" name="Imagen 2">
            <a:extLst>
              <a:ext uri="{FF2B5EF4-FFF2-40B4-BE49-F238E27FC236}">
                <a16:creationId xmlns:a16="http://schemas.microsoft.com/office/drawing/2014/main" id="{7EB1E20C-B680-AC35-EC1F-B5639546D784}"/>
              </a:ext>
            </a:extLst>
          </p:cNvPr>
          <p:cNvPicPr>
            <a:picLocks noChangeAspect="1"/>
          </p:cNvPicPr>
          <p:nvPr/>
        </p:nvPicPr>
        <p:blipFill>
          <a:blip r:embed="rId6"/>
          <a:stretch>
            <a:fillRect/>
          </a:stretch>
        </p:blipFill>
        <p:spPr>
          <a:xfrm>
            <a:off x="3020824" y="1176434"/>
            <a:ext cx="7271361" cy="1848651"/>
          </a:xfrm>
          <a:prstGeom prst="rect">
            <a:avLst/>
          </a:prstGeom>
        </p:spPr>
      </p:pic>
    </p:spTree>
    <p:extLst>
      <p:ext uri="{BB962C8B-B14F-4D97-AF65-F5344CB8AC3E}">
        <p14:creationId xmlns:p14="http://schemas.microsoft.com/office/powerpoint/2010/main" val="70786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8D8E1-2DCB-95FE-EF5F-2C72FD2E86D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7F6C204-19B8-47F4-4DED-4FA8DC2DB20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A9E43A3-BBB9-2A5B-A192-B9686E539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21D9E8FD-BD47-7F16-D41D-984817BC0BF6}"/>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0A14C277-3661-EC58-9034-A266DCA8A5D9}"/>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SUPERMERCADO MERKOPOLIS - MEDELLIN</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0D13167C-1B5C-E317-A018-818D9588449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AC0289FC-0E0E-08DD-820A-61EFD826F5C0}"/>
              </a:ext>
            </a:extLst>
          </p:cNvPr>
          <p:cNvSpPr txBox="1"/>
          <p:nvPr/>
        </p:nvSpPr>
        <p:spPr>
          <a:xfrm>
            <a:off x="3020824" y="3279862"/>
            <a:ext cx="7271360"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ES" sz="1600" dirty="0"/>
              <a:t>Se evidencia que el auditor llevaba tiempo en el PDV y la chica no estaba en el lineal.</a:t>
            </a:r>
          </a:p>
          <a:p>
            <a:pPr marL="285750" indent="-285750" algn="just">
              <a:buFont typeface="Arial" panose="020B0604020202020204" pitchFamily="34" charset="0"/>
              <a:buChar char="•"/>
            </a:pPr>
            <a:r>
              <a:rPr lang="es-ES" sz="1600" dirty="0"/>
              <a:t>No tiene todos los precios en los productos, no se encuentra surtido de acuerdo con las PEPS o FIFO en los alimentos húmedos.</a:t>
            </a:r>
          </a:p>
          <a:p>
            <a:pPr marL="285750" indent="-285750" algn="just">
              <a:buFont typeface="Arial" panose="020B0604020202020204" pitchFamily="34" charset="0"/>
              <a:buChar char="•"/>
            </a:pPr>
            <a:r>
              <a:rPr lang="es-ES" sz="1600" dirty="0"/>
              <a:t>Hay productos con polvo o suciedad en el mostrador.</a:t>
            </a:r>
            <a:endParaRPr lang="es-MX" sz="1600" dirty="0"/>
          </a:p>
        </p:txBody>
      </p:sp>
      <p:sp>
        <p:nvSpPr>
          <p:cNvPr id="12" name="CuadroTexto 11">
            <a:extLst>
              <a:ext uri="{FF2B5EF4-FFF2-40B4-BE49-F238E27FC236}">
                <a16:creationId xmlns:a16="http://schemas.microsoft.com/office/drawing/2014/main" id="{7D5BE5C1-4A52-1254-B56F-22872497FF9B}"/>
              </a:ext>
            </a:extLst>
          </p:cNvPr>
          <p:cNvSpPr txBox="1"/>
          <p:nvPr/>
        </p:nvSpPr>
        <p:spPr>
          <a:xfrm>
            <a:off x="3020824" y="5350521"/>
            <a:ext cx="7271359" cy="923330"/>
          </a:xfrm>
          <a:prstGeom prst="rect">
            <a:avLst/>
          </a:prstGeom>
          <a:noFill/>
        </p:spPr>
        <p:txBody>
          <a:bodyPr wrap="square">
            <a:spAutoFit/>
          </a:bodyPr>
          <a:lstStyle/>
          <a:p>
            <a:r>
              <a:rPr lang="es-CO" u="sng" dirty="0">
                <a:hlinkClick r:id="rId3"/>
              </a:rPr>
              <a:t>https://drive.google.com/file/d/1DcFy8GfUb0X75NmNpK2IIDe3XU_tCLW2/view?usp=drive_link</a:t>
            </a:r>
            <a:endParaRPr lang="es-CO" u="sng" dirty="0"/>
          </a:p>
          <a:p>
            <a:endParaRPr lang="es-CO" dirty="0"/>
          </a:p>
        </p:txBody>
      </p:sp>
      <p:sp>
        <p:nvSpPr>
          <p:cNvPr id="5" name="CuadroTexto 4">
            <a:extLst>
              <a:ext uri="{FF2B5EF4-FFF2-40B4-BE49-F238E27FC236}">
                <a16:creationId xmlns:a16="http://schemas.microsoft.com/office/drawing/2014/main" id="{F9A6CD90-B50D-5054-C127-8B6C6027A090}"/>
              </a:ext>
            </a:extLst>
          </p:cNvPr>
          <p:cNvSpPr txBox="1"/>
          <p:nvPr/>
        </p:nvSpPr>
        <p:spPr>
          <a:xfrm>
            <a:off x="1067106" y="445796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65%</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7259FE09-99F0-1289-1479-F67C1B7C61AC}"/>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054B7CEB-27F9-4526-EB9A-B25AA161D265}"/>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81891B2A-DC93-9773-588F-E503B23E7FEE}"/>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Medellín</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518C5E6A-95BC-2629-6723-DD0670AD429E}"/>
              </a:ext>
            </a:extLst>
          </p:cNvPr>
          <p:cNvGraphicFramePr/>
          <p:nvPr>
            <p:extLst>
              <p:ext uri="{D42A27DB-BD31-4B8C-83A1-F6EECF244321}">
                <p14:modId xmlns:p14="http://schemas.microsoft.com/office/powerpoint/2010/main" val="1998371936"/>
              </p:ext>
            </p:extLst>
          </p:nvPr>
        </p:nvGraphicFramePr>
        <p:xfrm>
          <a:off x="440403" y="3956318"/>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 name="Imagen 1">
            <a:extLst>
              <a:ext uri="{FF2B5EF4-FFF2-40B4-BE49-F238E27FC236}">
                <a16:creationId xmlns:a16="http://schemas.microsoft.com/office/drawing/2014/main" id="{81338723-DD01-9286-4281-74BFC3237CE0}"/>
              </a:ext>
            </a:extLst>
          </p:cNvPr>
          <p:cNvPicPr>
            <a:picLocks noChangeAspect="1"/>
          </p:cNvPicPr>
          <p:nvPr/>
        </p:nvPicPr>
        <p:blipFill>
          <a:blip r:embed="rId6"/>
          <a:stretch>
            <a:fillRect/>
          </a:stretch>
        </p:blipFill>
        <p:spPr>
          <a:xfrm>
            <a:off x="3020824" y="1176434"/>
            <a:ext cx="7271361" cy="1848651"/>
          </a:xfrm>
          <a:prstGeom prst="rect">
            <a:avLst/>
          </a:prstGeom>
        </p:spPr>
      </p:pic>
    </p:spTree>
    <p:extLst>
      <p:ext uri="{BB962C8B-B14F-4D97-AF65-F5344CB8AC3E}">
        <p14:creationId xmlns:p14="http://schemas.microsoft.com/office/powerpoint/2010/main" val="3022745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DA81-7E67-20D2-07F1-F66B7E65CBF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35E8222-C1C6-18CA-C525-73654A76D1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BE435962-EC1D-78A9-248D-800CD3E528F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0CC7BA8-462E-3CE8-E3A4-EA533E1CD942}"/>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ALKOSTO AVENIDA 68 </a:t>
            </a:r>
            <a:r>
              <a:rPr lang="es-MX" sz="1800" b="1" i="0" u="none" strike="noStrike" dirty="0">
                <a:solidFill>
                  <a:srgbClr val="000000"/>
                </a:solidFill>
                <a:effectLst/>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CBF0B0BC-435B-DBB6-2746-CC63F3DEAFD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18D1376-9561-828A-CF36-824547D07522}"/>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7C36C4AD-C372-41E2-ECDF-7124B0517EF8}"/>
              </a:ext>
            </a:extLst>
          </p:cNvPr>
          <p:cNvSpPr txBox="1"/>
          <p:nvPr/>
        </p:nvSpPr>
        <p:spPr>
          <a:xfrm>
            <a:off x="2877350" y="3167612"/>
            <a:ext cx="7585784" cy="3416320"/>
          </a:xfrm>
          <a:prstGeom prst="rect">
            <a:avLst/>
          </a:prstGeom>
          <a:noFill/>
        </p:spPr>
        <p:txBody>
          <a:bodyPr wrap="square">
            <a:spAutoFit/>
          </a:bodyPr>
          <a:lstStyle/>
          <a:p>
            <a:r>
              <a:rPr lang="es-CO" u="sng" dirty="0">
                <a:hlinkClick r:id="rId2"/>
              </a:rPr>
              <a:t>https://drive.google.com/file/d/16fgmH_iaLMpFgqBRIxinIRNC7oHcMCvv/view?usp=drive_link</a:t>
            </a:r>
            <a:endParaRPr lang="es-CO" u="sng" dirty="0"/>
          </a:p>
          <a:p>
            <a:endParaRPr lang="es-CO" u="sng" dirty="0"/>
          </a:p>
          <a:p>
            <a:r>
              <a:rPr lang="es-CO" u="sng" dirty="0">
                <a:hlinkClick r:id="rId3"/>
              </a:rPr>
              <a:t>https://drive.google.com/file/d/1VKwd7hJJrv1MCuTd_aobTsB4itj7DXKE/view?usp=drive_link</a:t>
            </a:r>
            <a:endParaRPr lang="es-CO" u="sng" dirty="0"/>
          </a:p>
          <a:p>
            <a:endParaRPr lang="es-CO" u="sng" dirty="0"/>
          </a:p>
          <a:p>
            <a:r>
              <a:rPr lang="es-CO" u="sng" dirty="0">
                <a:hlinkClick r:id="rId4"/>
              </a:rPr>
              <a:t>https://drive.google.com/file/d/1cHzNNnBNFJoq0hZYn10h12PWHtXpj_mN/view?usp=drive_link</a:t>
            </a:r>
            <a:endParaRPr lang="es-CO" u="sng" dirty="0"/>
          </a:p>
          <a:p>
            <a:endParaRPr lang="es-CO" u="sng" dirty="0"/>
          </a:p>
          <a:p>
            <a:r>
              <a:rPr lang="es-CO" u="sng" dirty="0">
                <a:hlinkClick r:id="rId5"/>
              </a:rPr>
              <a:t>https://drive.google.com/file/d/1nUBchHusqeLlgtPnMmImaRI_MLmJqfKg/view?usp=drive_link</a:t>
            </a:r>
            <a:endParaRPr lang="es-CO" u="sng" dirty="0"/>
          </a:p>
          <a:p>
            <a:endParaRPr lang="es-CO" u="sng" dirty="0"/>
          </a:p>
        </p:txBody>
      </p:sp>
      <p:sp>
        <p:nvSpPr>
          <p:cNvPr id="5" name="CuadroTexto 4">
            <a:extLst>
              <a:ext uri="{FF2B5EF4-FFF2-40B4-BE49-F238E27FC236}">
                <a16:creationId xmlns:a16="http://schemas.microsoft.com/office/drawing/2014/main" id="{F222933C-BA12-E063-5BCF-E0BE2956583D}"/>
              </a:ext>
            </a:extLst>
          </p:cNvPr>
          <p:cNvSpPr txBox="1"/>
          <p:nvPr/>
        </p:nvSpPr>
        <p:spPr>
          <a:xfrm>
            <a:off x="2877350" y="2282599"/>
            <a:ext cx="7585784" cy="584775"/>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7CB25710-62D1-D60E-F4F8-346AD4010F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4030159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365D-CE0B-D7DF-B555-2CFA2DBDA0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01A737B-03B2-CE89-2EE0-12725CA68BF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9EF230B1-6B84-382E-7622-C9FFCC4C35C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57D05FD-9316-F285-DAC8-25D77B8F531B}"/>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CHAMPION - </a:t>
            </a:r>
            <a:r>
              <a:rPr lang="es-MX" sz="1800" b="1" i="0" u="none" strike="noStrike" dirty="0">
                <a:solidFill>
                  <a:srgbClr val="000000"/>
                </a:solidFill>
                <a:effectLst/>
                <a:latin typeface="Aptos Narrow" panose="020B0004020202020204" pitchFamily="34" charset="0"/>
              </a:rPr>
              <a:t>BOGOTA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F3960C8-7556-27D9-7E79-579D2E31B06E}"/>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A5C6F918-6929-E3C9-0F61-1A26430A89E9}"/>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B813CBB1-8775-1FA4-C7E5-86742DFEF373}"/>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0" name="CuadroTexto 9">
            <a:extLst>
              <a:ext uri="{FF2B5EF4-FFF2-40B4-BE49-F238E27FC236}">
                <a16:creationId xmlns:a16="http://schemas.microsoft.com/office/drawing/2014/main" id="{E0345A4E-C073-88EB-2444-456242F6A8F5}"/>
              </a:ext>
            </a:extLst>
          </p:cNvPr>
          <p:cNvSpPr txBox="1"/>
          <p:nvPr/>
        </p:nvSpPr>
        <p:spPr>
          <a:xfrm>
            <a:off x="2877350" y="3179448"/>
            <a:ext cx="7585784" cy="1754326"/>
          </a:xfrm>
          <a:prstGeom prst="rect">
            <a:avLst/>
          </a:prstGeom>
          <a:noFill/>
        </p:spPr>
        <p:txBody>
          <a:bodyPr wrap="square">
            <a:spAutoFit/>
          </a:bodyPr>
          <a:lstStyle/>
          <a:p>
            <a:r>
              <a:rPr lang="es-CO" u="sng" dirty="0">
                <a:hlinkClick r:id="rId2"/>
              </a:rPr>
              <a:t>https://drive.google.com/file/d/1UdZX8YApqnb6rMv3SxyG1Ec7oA78NlQn/view?usp=drive_link</a:t>
            </a:r>
            <a:endParaRPr lang="es-CO" u="sng" dirty="0"/>
          </a:p>
          <a:p>
            <a:endParaRPr lang="es-CO" u="sng" dirty="0"/>
          </a:p>
          <a:p>
            <a:r>
              <a:rPr lang="es-CO" dirty="0">
                <a:hlinkClick r:id="rId3"/>
              </a:rPr>
              <a:t>https://drive.google.com/file/d/1f2xm_asYaRiBRonCZVGXTeOuW4y3_cYy/view?usp=drive_link</a:t>
            </a:r>
            <a:endParaRPr lang="es-CO" dirty="0"/>
          </a:p>
          <a:p>
            <a:endParaRPr lang="es-CO" dirty="0"/>
          </a:p>
        </p:txBody>
      </p:sp>
      <p:sp>
        <p:nvSpPr>
          <p:cNvPr id="11" name="CuadroTexto 10">
            <a:extLst>
              <a:ext uri="{FF2B5EF4-FFF2-40B4-BE49-F238E27FC236}">
                <a16:creationId xmlns:a16="http://schemas.microsoft.com/office/drawing/2014/main" id="{A17D31AC-9A6A-8F19-E40B-F8961AB69F73}"/>
              </a:ext>
            </a:extLst>
          </p:cNvPr>
          <p:cNvSpPr txBox="1"/>
          <p:nvPr/>
        </p:nvSpPr>
        <p:spPr>
          <a:xfrm>
            <a:off x="2877350" y="2161911"/>
            <a:ext cx="7585784" cy="584775"/>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66E9BC07-480A-5128-EF50-7502309F6C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880970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990C-5F5B-674D-E734-2D19DE5A451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93856FB-3977-B393-ACB0-5EEC4702170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CF08A25-4EEF-A06F-8416-77F92F479AF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5E01CB2-7ED7-CEE3-6ED6-1BBA43CC1EF5}"/>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SUPERMERCADOS GALERIAS PLAZA S.A.S. -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0735A0A7-43FF-F5B9-7651-CF6FAA20E963}"/>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686F0888-5E27-713B-1857-BD0F78FCE666}"/>
              </a:ext>
            </a:extLst>
          </p:cNvPr>
          <p:cNvSpPr txBox="1"/>
          <p:nvPr/>
        </p:nvSpPr>
        <p:spPr>
          <a:xfrm>
            <a:off x="2877350" y="2978887"/>
            <a:ext cx="7585784" cy="1754326"/>
          </a:xfrm>
          <a:prstGeom prst="rect">
            <a:avLst/>
          </a:prstGeom>
          <a:noFill/>
        </p:spPr>
        <p:txBody>
          <a:bodyPr wrap="square">
            <a:spAutoFit/>
          </a:bodyPr>
          <a:lstStyle/>
          <a:p>
            <a:r>
              <a:rPr lang="es-CO" u="sng" dirty="0">
                <a:hlinkClick r:id="rId2"/>
              </a:rPr>
              <a:t>https://drive.google.com/file/d/1eNGAnk9Q4Z_M4kA4K1wJTBoanFQzr0Hc/view?usp=drive_link</a:t>
            </a:r>
            <a:endParaRPr lang="es-CO" u="sng" dirty="0"/>
          </a:p>
          <a:p>
            <a:endParaRPr lang="es-CO" u="sng" dirty="0"/>
          </a:p>
          <a:p>
            <a:r>
              <a:rPr lang="es-CO" dirty="0">
                <a:hlinkClick r:id="rId3"/>
              </a:rPr>
              <a:t>https://drive.google.com/file/d/1xxDmxhKH_SqtZaABnIN4wqk9BsIXuAKV/view?usp=drive_link</a:t>
            </a:r>
            <a:endParaRPr lang="es-CO" dirty="0"/>
          </a:p>
          <a:p>
            <a:endParaRPr lang="es-CO" dirty="0"/>
          </a:p>
        </p:txBody>
      </p:sp>
      <p:sp>
        <p:nvSpPr>
          <p:cNvPr id="10" name="CuadroTexto 9">
            <a:extLst>
              <a:ext uri="{FF2B5EF4-FFF2-40B4-BE49-F238E27FC236}">
                <a16:creationId xmlns:a16="http://schemas.microsoft.com/office/drawing/2014/main" id="{33F78E47-312C-F2CF-99FD-7B996F479A9B}"/>
              </a:ext>
            </a:extLst>
          </p:cNvPr>
          <p:cNvSpPr txBox="1"/>
          <p:nvPr/>
        </p:nvSpPr>
        <p:spPr>
          <a:xfrm>
            <a:off x="2877350" y="2206169"/>
            <a:ext cx="7585784" cy="584775"/>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5EB6B137-483B-CC1C-6CC6-7C51A6EA20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788796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88425"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Noviembre 2025 -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El mystery shopper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Noviembre</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2787898" y="3318570"/>
            <a:ext cx="8284293" cy="3539430"/>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lgn="just">
              <a:buFont typeface="Arial" panose="020B0604020202020204" pitchFamily="34" charset="0"/>
              <a:buChar char="•"/>
            </a:pPr>
            <a:r>
              <a:rPr lang="es-MX" sz="1200" dirty="0"/>
              <a:t>Se debe indagar sobre las necesidades del cliente con respecto a su consumo habitual, ya sean marcas propias o de la competencia.</a:t>
            </a:r>
          </a:p>
          <a:p>
            <a:pPr marL="742950" lvl="1" indent="-285750" algn="just">
              <a:buFont typeface="Arial" panose="020B0604020202020204" pitchFamily="34" charset="0"/>
              <a:buChar char="•"/>
            </a:pPr>
            <a:r>
              <a:rPr lang="es-MX" sz="1200" dirty="0"/>
              <a:t>Capacidad de atención a objeciones del mystery shopper ofreciendo los productos en orden de segmentación.</a:t>
            </a:r>
          </a:p>
          <a:p>
            <a:pPr marL="742950" lvl="1" indent="-285750" algn="just">
              <a:buFont typeface="Arial" panose="020B0604020202020204" pitchFamily="34" charset="0"/>
              <a:buChar char="•"/>
            </a:pPr>
            <a:r>
              <a:rPr lang="es-MX" sz="1200" u="sng" dirty="0"/>
              <a:t>Especializado:</a:t>
            </a:r>
            <a:r>
              <a:rPr lang="es-MX" sz="1200" dirty="0"/>
              <a:t> Comunica la actividad PRO PLAN y frente a objeción ofrecimiento de Marca Excellent.</a:t>
            </a:r>
          </a:p>
          <a:p>
            <a:pPr marL="742950" lvl="1" indent="-285750" algn="just">
              <a:buFont typeface="Arial" panose="020B0604020202020204" pitchFamily="34" charset="0"/>
              <a:buChar char="•"/>
            </a:pPr>
            <a:r>
              <a:rPr lang="es-MX" sz="1200" u="sng" dirty="0"/>
              <a:t>Moderno</a:t>
            </a:r>
            <a:r>
              <a:rPr lang="es-MX" sz="1200" dirty="0"/>
              <a:t>: Ofrecimiento de Dog Chow o Cat Chow como primera opción, ofrecimiento de alimento húmedo de Dog Chow y Félix.</a:t>
            </a:r>
          </a:p>
          <a:p>
            <a:pPr algn="just"/>
            <a:endParaRPr lang="es-MX" sz="500" dirty="0"/>
          </a:p>
          <a:p>
            <a:pPr algn="just"/>
            <a:endParaRPr lang="es-MX" sz="1200" b="1" dirty="0"/>
          </a:p>
          <a:p>
            <a:pPr algn="just"/>
            <a:r>
              <a:rPr lang="es-MX" sz="1200" b="1" dirty="0"/>
              <a:t>ABORDAJE: </a:t>
            </a:r>
            <a:r>
              <a:rPr lang="es-MX" sz="1200" dirty="0"/>
              <a:t>Se debe realizar un abordaje proactivo en pdv (inferior a 1 min) </a:t>
            </a:r>
          </a:p>
          <a:p>
            <a:pPr algn="just"/>
            <a:endParaRPr lang="es-MX" sz="1200" b="1"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speech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17" name="Imagen 16">
            <a:extLst>
              <a:ext uri="{FF2B5EF4-FFF2-40B4-BE49-F238E27FC236}">
                <a16:creationId xmlns:a16="http://schemas.microsoft.com/office/drawing/2014/main" id="{1CB4B897-BD9D-FD79-10CF-D6D3A0F7011C}"/>
              </a:ext>
            </a:extLst>
          </p:cNvPr>
          <p:cNvPicPr>
            <a:picLocks noChangeAspect="1"/>
          </p:cNvPicPr>
          <p:nvPr/>
        </p:nvPicPr>
        <p:blipFill>
          <a:blip r:embed="rId3"/>
          <a:stretch>
            <a:fillRect/>
          </a:stretch>
        </p:blipFill>
        <p:spPr>
          <a:xfrm>
            <a:off x="4991340" y="1665366"/>
            <a:ext cx="3794721" cy="1490374"/>
          </a:xfrm>
          <a:prstGeom prst="rect">
            <a:avLst/>
          </a:prstGeom>
        </p:spPr>
      </p:pic>
      <p:pic>
        <p:nvPicPr>
          <p:cNvPr id="6" name="Imagen 5">
            <a:extLst>
              <a:ext uri="{FF2B5EF4-FFF2-40B4-BE49-F238E27FC236}">
                <a16:creationId xmlns:a16="http://schemas.microsoft.com/office/drawing/2014/main" id="{F59CB3C0-71CF-EAD2-1D1A-E332759B6D07}"/>
              </a:ext>
            </a:extLst>
          </p:cNvPr>
          <p:cNvPicPr>
            <a:picLocks noChangeAspect="1"/>
          </p:cNvPicPr>
          <p:nvPr/>
        </p:nvPicPr>
        <p:blipFill>
          <a:blip r:embed="rId4">
            <a:biLevel thresh="75000"/>
          </a:blip>
          <a:stretch>
            <a:fillRect/>
          </a:stretch>
        </p:blipFill>
        <p:spPr>
          <a:xfrm>
            <a:off x="523587" y="3970387"/>
            <a:ext cx="463336" cy="463336"/>
          </a:xfrm>
          <a:prstGeom prst="rect">
            <a:avLst/>
          </a:prstGeom>
        </p:spPr>
      </p:pic>
      <p:sp>
        <p:nvSpPr>
          <p:cNvPr id="7" name="CuadroTexto 6">
            <a:extLst>
              <a:ext uri="{FF2B5EF4-FFF2-40B4-BE49-F238E27FC236}">
                <a16:creationId xmlns:a16="http://schemas.microsoft.com/office/drawing/2014/main" id="{A8E8D94E-67B6-2800-E974-124FAA6FECCE}"/>
              </a:ext>
            </a:extLst>
          </p:cNvPr>
          <p:cNvSpPr txBox="1"/>
          <p:nvPr/>
        </p:nvSpPr>
        <p:spPr>
          <a:xfrm>
            <a:off x="1011740" y="3951259"/>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Barranquilla</a:t>
            </a:r>
            <a:endParaRPr lang="es-CO" sz="1600" b="1" dirty="0">
              <a:solidFill>
                <a:schemeClr val="bg1"/>
              </a:solidFill>
            </a:endParaRPr>
          </a:p>
        </p:txBody>
      </p:sp>
      <p:pic>
        <p:nvPicPr>
          <p:cNvPr id="10" name="Imagen 9">
            <a:extLst>
              <a:ext uri="{FF2B5EF4-FFF2-40B4-BE49-F238E27FC236}">
                <a16:creationId xmlns:a16="http://schemas.microsoft.com/office/drawing/2014/main" id="{7F04634F-D07D-404F-563A-6E812AD6E1F7}"/>
              </a:ext>
            </a:extLst>
          </p:cNvPr>
          <p:cNvPicPr>
            <a:picLocks noChangeAspect="1"/>
          </p:cNvPicPr>
          <p:nvPr/>
        </p:nvPicPr>
        <p:blipFill>
          <a:blip r:embed="rId4">
            <a:biLevel thresh="75000"/>
          </a:blip>
          <a:stretch>
            <a:fillRect/>
          </a:stretch>
        </p:blipFill>
        <p:spPr>
          <a:xfrm>
            <a:off x="518915" y="4687520"/>
            <a:ext cx="463336" cy="463336"/>
          </a:xfrm>
          <a:prstGeom prst="rect">
            <a:avLst/>
          </a:prstGeom>
        </p:spPr>
      </p:pic>
      <p:sp>
        <p:nvSpPr>
          <p:cNvPr id="13" name="CuadroTexto 12">
            <a:extLst>
              <a:ext uri="{FF2B5EF4-FFF2-40B4-BE49-F238E27FC236}">
                <a16:creationId xmlns:a16="http://schemas.microsoft.com/office/drawing/2014/main" id="{D08E1614-E063-C291-4499-257A5217CF1F}"/>
              </a:ext>
            </a:extLst>
          </p:cNvPr>
          <p:cNvSpPr txBox="1"/>
          <p:nvPr/>
        </p:nvSpPr>
        <p:spPr>
          <a:xfrm>
            <a:off x="1007068" y="4668392"/>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14" name="Imagen 13">
            <a:extLst>
              <a:ext uri="{FF2B5EF4-FFF2-40B4-BE49-F238E27FC236}">
                <a16:creationId xmlns:a16="http://schemas.microsoft.com/office/drawing/2014/main" id="{CF3C032D-7876-1AD4-006C-DA38B0CAE128}"/>
              </a:ext>
            </a:extLst>
          </p:cNvPr>
          <p:cNvPicPr>
            <a:picLocks noChangeAspect="1"/>
          </p:cNvPicPr>
          <p:nvPr/>
        </p:nvPicPr>
        <p:blipFill>
          <a:blip r:embed="rId4">
            <a:biLevel thresh="75000"/>
          </a:blip>
          <a:stretch>
            <a:fillRect/>
          </a:stretch>
        </p:blipFill>
        <p:spPr>
          <a:xfrm>
            <a:off x="518915" y="5480840"/>
            <a:ext cx="463336" cy="463336"/>
          </a:xfrm>
          <a:prstGeom prst="rect">
            <a:avLst/>
          </a:prstGeom>
        </p:spPr>
      </p:pic>
      <p:sp>
        <p:nvSpPr>
          <p:cNvPr id="16" name="CuadroTexto 15">
            <a:extLst>
              <a:ext uri="{FF2B5EF4-FFF2-40B4-BE49-F238E27FC236}">
                <a16:creationId xmlns:a16="http://schemas.microsoft.com/office/drawing/2014/main" id="{FD7F764D-0C61-A082-556F-4797A7D0CBAC}"/>
              </a:ext>
            </a:extLst>
          </p:cNvPr>
          <p:cNvSpPr txBox="1"/>
          <p:nvPr/>
        </p:nvSpPr>
        <p:spPr>
          <a:xfrm>
            <a:off x="1007068" y="5461712"/>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Cali</a:t>
            </a:r>
            <a:endParaRPr lang="es-CO" sz="1600" b="1" dirty="0">
              <a:solidFill>
                <a:schemeClr val="bg1"/>
              </a:solidFill>
            </a:endParaRPr>
          </a:p>
        </p:txBody>
      </p:sp>
      <p:pic>
        <p:nvPicPr>
          <p:cNvPr id="18" name="Imagen 17">
            <a:extLst>
              <a:ext uri="{FF2B5EF4-FFF2-40B4-BE49-F238E27FC236}">
                <a16:creationId xmlns:a16="http://schemas.microsoft.com/office/drawing/2014/main" id="{2A82CF94-B61A-04AB-525B-E4A0CD47A31D}"/>
              </a:ext>
            </a:extLst>
          </p:cNvPr>
          <p:cNvPicPr>
            <a:picLocks noChangeAspect="1"/>
          </p:cNvPicPr>
          <p:nvPr/>
        </p:nvPicPr>
        <p:blipFill>
          <a:blip r:embed="rId4">
            <a:biLevel thresh="75000"/>
          </a:blip>
          <a:stretch>
            <a:fillRect/>
          </a:stretch>
        </p:blipFill>
        <p:spPr>
          <a:xfrm>
            <a:off x="518915" y="1619064"/>
            <a:ext cx="463336" cy="463336"/>
          </a:xfrm>
          <a:prstGeom prst="rect">
            <a:avLst/>
          </a:prstGeom>
        </p:spPr>
      </p:pic>
      <p:sp>
        <p:nvSpPr>
          <p:cNvPr id="22" name="CuadroTexto 21">
            <a:extLst>
              <a:ext uri="{FF2B5EF4-FFF2-40B4-BE49-F238E27FC236}">
                <a16:creationId xmlns:a16="http://schemas.microsoft.com/office/drawing/2014/main" id="{DD5425D1-C490-9297-960B-1D462BE0020D}"/>
              </a:ext>
            </a:extLst>
          </p:cNvPr>
          <p:cNvSpPr txBox="1"/>
          <p:nvPr/>
        </p:nvSpPr>
        <p:spPr>
          <a:xfrm>
            <a:off x="1021834" y="1562772"/>
            <a:ext cx="1613504" cy="584775"/>
          </a:xfrm>
          <a:prstGeom prst="rect">
            <a:avLst/>
          </a:prstGeom>
          <a:noFill/>
        </p:spPr>
        <p:txBody>
          <a:bodyPr wrap="square" rtlCol="0">
            <a:spAutoFit/>
          </a:bodyPr>
          <a:lstStyle/>
          <a:p>
            <a:r>
              <a:rPr lang="es-MX" sz="1600" dirty="0">
                <a:solidFill>
                  <a:schemeClr val="bg1"/>
                </a:solidFill>
              </a:rPr>
              <a:t> 1 Mystery</a:t>
            </a:r>
          </a:p>
          <a:p>
            <a:r>
              <a:rPr lang="es-MX" sz="1600" b="1" dirty="0">
                <a:solidFill>
                  <a:schemeClr val="bg1"/>
                </a:solidFill>
              </a:rPr>
              <a:t>Envigado</a:t>
            </a:r>
            <a:endParaRPr lang="es-CO" sz="1600" b="1" dirty="0">
              <a:solidFill>
                <a:schemeClr val="bg1"/>
              </a:solidFill>
            </a:endParaRPr>
          </a:p>
        </p:txBody>
      </p:sp>
      <p:pic>
        <p:nvPicPr>
          <p:cNvPr id="23" name="Imagen 22">
            <a:extLst>
              <a:ext uri="{FF2B5EF4-FFF2-40B4-BE49-F238E27FC236}">
                <a16:creationId xmlns:a16="http://schemas.microsoft.com/office/drawing/2014/main" id="{E7FCEF5E-D86F-6F36-05E5-74B0B5138566}"/>
              </a:ext>
            </a:extLst>
          </p:cNvPr>
          <p:cNvPicPr>
            <a:picLocks noChangeAspect="1"/>
          </p:cNvPicPr>
          <p:nvPr/>
        </p:nvPicPr>
        <p:blipFill>
          <a:blip r:embed="rId4">
            <a:biLevel thresh="75000"/>
          </a:blip>
          <a:stretch>
            <a:fillRect/>
          </a:stretch>
        </p:blipFill>
        <p:spPr>
          <a:xfrm>
            <a:off x="523587" y="2366694"/>
            <a:ext cx="463336" cy="463336"/>
          </a:xfrm>
          <a:prstGeom prst="rect">
            <a:avLst/>
          </a:prstGeom>
        </p:spPr>
      </p:pic>
      <p:sp>
        <p:nvSpPr>
          <p:cNvPr id="24" name="CuadroTexto 23">
            <a:extLst>
              <a:ext uri="{FF2B5EF4-FFF2-40B4-BE49-F238E27FC236}">
                <a16:creationId xmlns:a16="http://schemas.microsoft.com/office/drawing/2014/main" id="{C1925B02-919B-185C-6046-8017A3C9E96D}"/>
              </a:ext>
            </a:extLst>
          </p:cNvPr>
          <p:cNvSpPr txBox="1"/>
          <p:nvPr/>
        </p:nvSpPr>
        <p:spPr>
          <a:xfrm>
            <a:off x="1011740" y="2347566"/>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Cartagena</a:t>
            </a:r>
            <a:endParaRPr lang="es-CO" sz="1600" b="1" dirty="0">
              <a:solidFill>
                <a:schemeClr val="bg1"/>
              </a:solidFill>
            </a:endParaRPr>
          </a:p>
        </p:txBody>
      </p:sp>
      <p:pic>
        <p:nvPicPr>
          <p:cNvPr id="25" name="Imagen 24">
            <a:extLst>
              <a:ext uri="{FF2B5EF4-FFF2-40B4-BE49-F238E27FC236}">
                <a16:creationId xmlns:a16="http://schemas.microsoft.com/office/drawing/2014/main" id="{CE752634-014B-5321-AE0B-0C6B9EB474CD}"/>
              </a:ext>
            </a:extLst>
          </p:cNvPr>
          <p:cNvPicPr>
            <a:picLocks noChangeAspect="1"/>
          </p:cNvPicPr>
          <p:nvPr/>
        </p:nvPicPr>
        <p:blipFill>
          <a:blip r:embed="rId4">
            <a:biLevel thresh="75000"/>
          </a:blip>
          <a:stretch>
            <a:fillRect/>
          </a:stretch>
        </p:blipFill>
        <p:spPr>
          <a:xfrm>
            <a:off x="518915" y="3155740"/>
            <a:ext cx="463336" cy="463336"/>
          </a:xfrm>
          <a:prstGeom prst="rect">
            <a:avLst/>
          </a:prstGeom>
        </p:spPr>
      </p:pic>
      <p:sp>
        <p:nvSpPr>
          <p:cNvPr id="27" name="CuadroTexto 26">
            <a:extLst>
              <a:ext uri="{FF2B5EF4-FFF2-40B4-BE49-F238E27FC236}">
                <a16:creationId xmlns:a16="http://schemas.microsoft.com/office/drawing/2014/main" id="{3F3CF15E-A807-2F9F-D121-CF54F1A99F15}"/>
              </a:ext>
            </a:extLst>
          </p:cNvPr>
          <p:cNvSpPr txBox="1"/>
          <p:nvPr/>
        </p:nvSpPr>
        <p:spPr>
          <a:xfrm>
            <a:off x="1007068" y="3136612"/>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Medellín </a:t>
            </a:r>
            <a:endParaRPr lang="es-CO" sz="1600" b="1" dirty="0">
              <a:solidFill>
                <a:schemeClr val="bg1"/>
              </a:solidFill>
            </a:endParaRPr>
          </a:p>
        </p:txBody>
      </p:sp>
    </p:spTree>
    <p:extLst>
      <p:ext uri="{BB962C8B-B14F-4D97-AF65-F5344CB8AC3E}">
        <p14:creationId xmlns:p14="http://schemas.microsoft.com/office/powerpoint/2010/main" val="1408814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41188"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206672"/>
            <a:ext cx="8652072" cy="83099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600" dirty="0"/>
              <a:t>Se logra impactar el panel propuesto de 14  pdv con 11 mysterys efectivos. </a:t>
            </a:r>
          </a:p>
          <a:p>
            <a:pPr marL="285750" indent="-285750">
              <a:buFont typeface="Arial" panose="020B0604020202020204" pitchFamily="34" charset="0"/>
              <a:buChar char="•"/>
            </a:pPr>
            <a:r>
              <a:rPr lang="es-MX" sz="1600" dirty="0"/>
              <a:t>Detalle de la ejecución por ciudad de acuerdo con los objetivos propuestos:</a:t>
            </a:r>
            <a:br>
              <a:rPr lang="es-MX" sz="1600" dirty="0"/>
            </a:br>
            <a:endParaRPr lang="es-MX" sz="1600" dirty="0"/>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Noviembre</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4543528"/>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MYSTERY EFECTIVO</a:t>
            </a:r>
            <a:r>
              <a:rPr lang="es-MX" sz="1400" b="1" dirty="0"/>
              <a:t>: </a:t>
            </a:r>
          </a:p>
        </p:txBody>
      </p:sp>
      <p:pic>
        <p:nvPicPr>
          <p:cNvPr id="2" name="Imagen 1">
            <a:extLst>
              <a:ext uri="{FF2B5EF4-FFF2-40B4-BE49-F238E27FC236}">
                <a16:creationId xmlns:a16="http://schemas.microsoft.com/office/drawing/2014/main" id="{184EB9BA-90F1-5066-E5BC-B3E06CC6FC53}"/>
              </a:ext>
            </a:extLst>
          </p:cNvPr>
          <p:cNvPicPr>
            <a:picLocks noChangeAspect="1"/>
          </p:cNvPicPr>
          <p:nvPr/>
        </p:nvPicPr>
        <p:blipFill>
          <a:blip r:embed="rId3">
            <a:biLevel thresh="75000"/>
          </a:blip>
          <a:stretch>
            <a:fillRect/>
          </a:stretch>
        </p:blipFill>
        <p:spPr>
          <a:xfrm>
            <a:off x="523587" y="3970387"/>
            <a:ext cx="463336" cy="463336"/>
          </a:xfrm>
          <a:prstGeom prst="rect">
            <a:avLst/>
          </a:prstGeom>
        </p:spPr>
      </p:pic>
      <p:sp>
        <p:nvSpPr>
          <p:cNvPr id="5" name="CuadroTexto 4">
            <a:extLst>
              <a:ext uri="{FF2B5EF4-FFF2-40B4-BE49-F238E27FC236}">
                <a16:creationId xmlns:a16="http://schemas.microsoft.com/office/drawing/2014/main" id="{25A2BDEC-FC4F-3BB7-67B3-E8303F8E62A7}"/>
              </a:ext>
            </a:extLst>
          </p:cNvPr>
          <p:cNvSpPr txBox="1"/>
          <p:nvPr/>
        </p:nvSpPr>
        <p:spPr>
          <a:xfrm>
            <a:off x="1011740" y="3951259"/>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Barranquilla</a:t>
            </a:r>
            <a:endParaRPr lang="es-CO" sz="1600" b="1" dirty="0">
              <a:solidFill>
                <a:schemeClr val="bg1"/>
              </a:solidFill>
            </a:endParaRPr>
          </a:p>
        </p:txBody>
      </p:sp>
      <p:pic>
        <p:nvPicPr>
          <p:cNvPr id="6" name="Imagen 5">
            <a:extLst>
              <a:ext uri="{FF2B5EF4-FFF2-40B4-BE49-F238E27FC236}">
                <a16:creationId xmlns:a16="http://schemas.microsoft.com/office/drawing/2014/main" id="{B0D322DC-575D-819D-CEF6-2449D72F8AD2}"/>
              </a:ext>
            </a:extLst>
          </p:cNvPr>
          <p:cNvPicPr>
            <a:picLocks noChangeAspect="1"/>
          </p:cNvPicPr>
          <p:nvPr/>
        </p:nvPicPr>
        <p:blipFill>
          <a:blip r:embed="rId3">
            <a:biLevel thresh="75000"/>
          </a:blip>
          <a:stretch>
            <a:fillRect/>
          </a:stretch>
        </p:blipFill>
        <p:spPr>
          <a:xfrm>
            <a:off x="518915" y="4687520"/>
            <a:ext cx="463336" cy="463336"/>
          </a:xfrm>
          <a:prstGeom prst="rect">
            <a:avLst/>
          </a:prstGeom>
        </p:spPr>
      </p:pic>
      <p:sp>
        <p:nvSpPr>
          <p:cNvPr id="10" name="CuadroTexto 9">
            <a:extLst>
              <a:ext uri="{FF2B5EF4-FFF2-40B4-BE49-F238E27FC236}">
                <a16:creationId xmlns:a16="http://schemas.microsoft.com/office/drawing/2014/main" id="{7374F9DB-DD96-5F9C-475F-78396F8744CE}"/>
              </a:ext>
            </a:extLst>
          </p:cNvPr>
          <p:cNvSpPr txBox="1"/>
          <p:nvPr/>
        </p:nvSpPr>
        <p:spPr>
          <a:xfrm>
            <a:off x="1007068" y="4668392"/>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14" name="Imagen 13">
            <a:extLst>
              <a:ext uri="{FF2B5EF4-FFF2-40B4-BE49-F238E27FC236}">
                <a16:creationId xmlns:a16="http://schemas.microsoft.com/office/drawing/2014/main" id="{45FDF563-09AD-9157-6B69-68F760EE58DC}"/>
              </a:ext>
            </a:extLst>
          </p:cNvPr>
          <p:cNvPicPr>
            <a:picLocks noChangeAspect="1"/>
          </p:cNvPicPr>
          <p:nvPr/>
        </p:nvPicPr>
        <p:blipFill>
          <a:blip r:embed="rId3">
            <a:biLevel thresh="75000"/>
          </a:blip>
          <a:stretch>
            <a:fillRect/>
          </a:stretch>
        </p:blipFill>
        <p:spPr>
          <a:xfrm>
            <a:off x="518915" y="5480840"/>
            <a:ext cx="463336" cy="463336"/>
          </a:xfrm>
          <a:prstGeom prst="rect">
            <a:avLst/>
          </a:prstGeom>
        </p:spPr>
      </p:pic>
      <p:sp>
        <p:nvSpPr>
          <p:cNvPr id="18" name="CuadroTexto 17">
            <a:extLst>
              <a:ext uri="{FF2B5EF4-FFF2-40B4-BE49-F238E27FC236}">
                <a16:creationId xmlns:a16="http://schemas.microsoft.com/office/drawing/2014/main" id="{8290A232-2BF9-6D70-D1D7-026243808FBE}"/>
              </a:ext>
            </a:extLst>
          </p:cNvPr>
          <p:cNvSpPr txBox="1"/>
          <p:nvPr/>
        </p:nvSpPr>
        <p:spPr>
          <a:xfrm>
            <a:off x="1007068" y="5461712"/>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Cali</a:t>
            </a:r>
            <a:endParaRPr lang="es-CO" sz="1600" b="1" dirty="0">
              <a:solidFill>
                <a:schemeClr val="bg1"/>
              </a:solidFill>
            </a:endParaRPr>
          </a:p>
        </p:txBody>
      </p:sp>
      <p:pic>
        <p:nvPicPr>
          <p:cNvPr id="9" name="Imagen 8">
            <a:extLst>
              <a:ext uri="{FF2B5EF4-FFF2-40B4-BE49-F238E27FC236}">
                <a16:creationId xmlns:a16="http://schemas.microsoft.com/office/drawing/2014/main" id="{76AC2D2F-3141-4A56-3A95-8F06CDE893AC}"/>
              </a:ext>
            </a:extLst>
          </p:cNvPr>
          <p:cNvPicPr>
            <a:picLocks noChangeAspect="1"/>
          </p:cNvPicPr>
          <p:nvPr/>
        </p:nvPicPr>
        <p:blipFill>
          <a:blip r:embed="rId4"/>
          <a:stretch>
            <a:fillRect/>
          </a:stretch>
        </p:blipFill>
        <p:spPr>
          <a:xfrm>
            <a:off x="2990334" y="1945336"/>
            <a:ext cx="8702896" cy="2393665"/>
          </a:xfrm>
          <a:prstGeom prst="rect">
            <a:avLst/>
          </a:prstGeom>
        </p:spPr>
      </p:pic>
      <p:pic>
        <p:nvPicPr>
          <p:cNvPr id="13" name="Imagen 12">
            <a:extLst>
              <a:ext uri="{FF2B5EF4-FFF2-40B4-BE49-F238E27FC236}">
                <a16:creationId xmlns:a16="http://schemas.microsoft.com/office/drawing/2014/main" id="{BA7661D1-5485-91E5-53F4-DC69A5264E13}"/>
              </a:ext>
            </a:extLst>
          </p:cNvPr>
          <p:cNvPicPr>
            <a:picLocks noChangeAspect="1"/>
          </p:cNvPicPr>
          <p:nvPr/>
        </p:nvPicPr>
        <p:blipFill>
          <a:blip r:embed="rId5"/>
          <a:stretch>
            <a:fillRect/>
          </a:stretch>
        </p:blipFill>
        <p:spPr>
          <a:xfrm>
            <a:off x="2990334" y="5055832"/>
            <a:ext cx="8702897" cy="1233242"/>
          </a:xfrm>
          <a:prstGeom prst="rect">
            <a:avLst/>
          </a:prstGeom>
        </p:spPr>
      </p:pic>
      <p:pic>
        <p:nvPicPr>
          <p:cNvPr id="15" name="Imagen 14">
            <a:extLst>
              <a:ext uri="{FF2B5EF4-FFF2-40B4-BE49-F238E27FC236}">
                <a16:creationId xmlns:a16="http://schemas.microsoft.com/office/drawing/2014/main" id="{E7B16A15-AE79-3225-DDCC-FCA022CCF3D2}"/>
              </a:ext>
            </a:extLst>
          </p:cNvPr>
          <p:cNvPicPr>
            <a:picLocks noChangeAspect="1"/>
          </p:cNvPicPr>
          <p:nvPr/>
        </p:nvPicPr>
        <p:blipFill>
          <a:blip r:embed="rId3">
            <a:biLevel thresh="75000"/>
          </a:blip>
          <a:stretch>
            <a:fillRect/>
          </a:stretch>
        </p:blipFill>
        <p:spPr>
          <a:xfrm>
            <a:off x="518915" y="1619064"/>
            <a:ext cx="463336" cy="463336"/>
          </a:xfrm>
          <a:prstGeom prst="rect">
            <a:avLst/>
          </a:prstGeom>
        </p:spPr>
      </p:pic>
      <p:sp>
        <p:nvSpPr>
          <p:cNvPr id="16" name="CuadroTexto 15">
            <a:extLst>
              <a:ext uri="{FF2B5EF4-FFF2-40B4-BE49-F238E27FC236}">
                <a16:creationId xmlns:a16="http://schemas.microsoft.com/office/drawing/2014/main" id="{CB7952E2-F1FF-621C-AE34-57E70B84B70D}"/>
              </a:ext>
            </a:extLst>
          </p:cNvPr>
          <p:cNvSpPr txBox="1"/>
          <p:nvPr/>
        </p:nvSpPr>
        <p:spPr>
          <a:xfrm>
            <a:off x="1021834" y="1562772"/>
            <a:ext cx="1613504" cy="584775"/>
          </a:xfrm>
          <a:prstGeom prst="rect">
            <a:avLst/>
          </a:prstGeom>
          <a:noFill/>
        </p:spPr>
        <p:txBody>
          <a:bodyPr wrap="square" rtlCol="0">
            <a:spAutoFit/>
          </a:bodyPr>
          <a:lstStyle/>
          <a:p>
            <a:r>
              <a:rPr lang="es-MX" sz="1600" dirty="0">
                <a:solidFill>
                  <a:schemeClr val="bg1"/>
                </a:solidFill>
              </a:rPr>
              <a:t> 1 Mystery</a:t>
            </a:r>
          </a:p>
          <a:p>
            <a:r>
              <a:rPr lang="es-MX" sz="1600" b="1" dirty="0">
                <a:solidFill>
                  <a:schemeClr val="bg1"/>
                </a:solidFill>
              </a:rPr>
              <a:t>Envigado</a:t>
            </a:r>
            <a:endParaRPr lang="es-CO" sz="1600" b="1" dirty="0">
              <a:solidFill>
                <a:schemeClr val="bg1"/>
              </a:solidFill>
            </a:endParaRPr>
          </a:p>
        </p:txBody>
      </p:sp>
      <p:pic>
        <p:nvPicPr>
          <p:cNvPr id="17" name="Imagen 16">
            <a:extLst>
              <a:ext uri="{FF2B5EF4-FFF2-40B4-BE49-F238E27FC236}">
                <a16:creationId xmlns:a16="http://schemas.microsoft.com/office/drawing/2014/main" id="{DD3C42E9-FC8B-E869-BAE0-AC092F399C76}"/>
              </a:ext>
            </a:extLst>
          </p:cNvPr>
          <p:cNvPicPr>
            <a:picLocks noChangeAspect="1"/>
          </p:cNvPicPr>
          <p:nvPr/>
        </p:nvPicPr>
        <p:blipFill>
          <a:blip r:embed="rId3">
            <a:biLevel thresh="75000"/>
          </a:blip>
          <a:stretch>
            <a:fillRect/>
          </a:stretch>
        </p:blipFill>
        <p:spPr>
          <a:xfrm>
            <a:off x="523587" y="2366694"/>
            <a:ext cx="463336" cy="463336"/>
          </a:xfrm>
          <a:prstGeom prst="rect">
            <a:avLst/>
          </a:prstGeom>
        </p:spPr>
      </p:pic>
      <p:sp>
        <p:nvSpPr>
          <p:cNvPr id="19" name="CuadroTexto 18">
            <a:extLst>
              <a:ext uri="{FF2B5EF4-FFF2-40B4-BE49-F238E27FC236}">
                <a16:creationId xmlns:a16="http://schemas.microsoft.com/office/drawing/2014/main" id="{FFA6DA5A-29D0-E525-C4B9-04DF064EC5CE}"/>
              </a:ext>
            </a:extLst>
          </p:cNvPr>
          <p:cNvSpPr txBox="1"/>
          <p:nvPr/>
        </p:nvSpPr>
        <p:spPr>
          <a:xfrm>
            <a:off x="1011740" y="2347566"/>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Cartagena</a:t>
            </a:r>
            <a:endParaRPr lang="es-CO" sz="1600" b="1" dirty="0">
              <a:solidFill>
                <a:schemeClr val="bg1"/>
              </a:solidFill>
            </a:endParaRPr>
          </a:p>
        </p:txBody>
      </p:sp>
      <p:pic>
        <p:nvPicPr>
          <p:cNvPr id="22" name="Imagen 21">
            <a:extLst>
              <a:ext uri="{FF2B5EF4-FFF2-40B4-BE49-F238E27FC236}">
                <a16:creationId xmlns:a16="http://schemas.microsoft.com/office/drawing/2014/main" id="{D387DE7D-FC62-E8B2-622E-273C996F0A66}"/>
              </a:ext>
            </a:extLst>
          </p:cNvPr>
          <p:cNvPicPr>
            <a:picLocks noChangeAspect="1"/>
          </p:cNvPicPr>
          <p:nvPr/>
        </p:nvPicPr>
        <p:blipFill>
          <a:blip r:embed="rId3">
            <a:biLevel thresh="75000"/>
          </a:blip>
          <a:stretch>
            <a:fillRect/>
          </a:stretch>
        </p:blipFill>
        <p:spPr>
          <a:xfrm>
            <a:off x="518915" y="3155740"/>
            <a:ext cx="463336" cy="463336"/>
          </a:xfrm>
          <a:prstGeom prst="rect">
            <a:avLst/>
          </a:prstGeom>
        </p:spPr>
      </p:pic>
      <p:sp>
        <p:nvSpPr>
          <p:cNvPr id="24" name="CuadroTexto 23">
            <a:extLst>
              <a:ext uri="{FF2B5EF4-FFF2-40B4-BE49-F238E27FC236}">
                <a16:creationId xmlns:a16="http://schemas.microsoft.com/office/drawing/2014/main" id="{1FF0B88A-98AA-7A4B-87A1-33B7EE92B4A8}"/>
              </a:ext>
            </a:extLst>
          </p:cNvPr>
          <p:cNvSpPr txBox="1"/>
          <p:nvPr/>
        </p:nvSpPr>
        <p:spPr>
          <a:xfrm>
            <a:off x="1007068" y="3136612"/>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Medellín </a:t>
            </a:r>
            <a:endParaRPr lang="es-CO" sz="1600" b="1" dirty="0">
              <a:solidFill>
                <a:schemeClr val="bg1"/>
              </a:solidFill>
            </a:endParaRPr>
          </a:p>
        </p:txBody>
      </p:sp>
    </p:spTree>
    <p:extLst>
      <p:ext uri="{BB962C8B-B14F-4D97-AF65-F5344CB8AC3E}">
        <p14:creationId xmlns:p14="http://schemas.microsoft.com/office/powerpoint/2010/main" val="342973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B7A4-7FEE-C255-C88E-6291B7C1806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DDB5FB5-DBA7-32AF-7850-44C9AB9537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BFBC2EA-2855-C20B-54D3-EB6BED5DC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182372"/>
            <a:ext cx="2560659" cy="485171"/>
          </a:xfrm>
          <a:prstGeom prst="rect">
            <a:avLst/>
          </a:prstGeom>
        </p:spPr>
      </p:pic>
      <p:sp>
        <p:nvSpPr>
          <p:cNvPr id="19" name="CuadroTexto 18">
            <a:extLst>
              <a:ext uri="{FF2B5EF4-FFF2-40B4-BE49-F238E27FC236}">
                <a16:creationId xmlns:a16="http://schemas.microsoft.com/office/drawing/2014/main" id="{AAF4DEE6-769C-B912-0714-4AF45BCDF5A3}"/>
              </a:ext>
            </a:extLst>
          </p:cNvPr>
          <p:cNvSpPr txBox="1"/>
          <p:nvPr/>
        </p:nvSpPr>
        <p:spPr>
          <a:xfrm>
            <a:off x="2946880" y="852225"/>
            <a:ext cx="7966992" cy="584775"/>
          </a:xfrm>
          <a:prstGeom prst="rect">
            <a:avLst/>
          </a:prstGeom>
          <a:noFill/>
        </p:spPr>
        <p:txBody>
          <a:bodyPr wrap="square" lIns="91440" tIns="45720" rIns="91440" bIns="45720" rtlCol="0" anchor="t">
            <a:spAutoFit/>
          </a:bodyPr>
          <a:lstStyle/>
          <a:p>
            <a:r>
              <a:rPr lang="es-MX" sz="1600" dirty="0"/>
              <a:t>Evaluando los pdv se obtiene un resultado del Mystery de un 97% frente a los KPIS propuestos de gestión.</a:t>
            </a:r>
          </a:p>
        </p:txBody>
      </p:sp>
      <p:cxnSp>
        <p:nvCxnSpPr>
          <p:cNvPr id="9" name="Conector recto 8">
            <a:extLst>
              <a:ext uri="{FF2B5EF4-FFF2-40B4-BE49-F238E27FC236}">
                <a16:creationId xmlns:a16="http://schemas.microsoft.com/office/drawing/2014/main" id="{BD04800E-534E-910F-993C-E2246B4B7515}"/>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281AFCE6-2261-7527-935F-42662EFC9A0D}"/>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29C5ECE4-EA9C-AB55-6217-E09024B4BBC3}"/>
              </a:ext>
            </a:extLst>
          </p:cNvPr>
          <p:cNvSpPr txBox="1"/>
          <p:nvPr/>
        </p:nvSpPr>
        <p:spPr>
          <a:xfrm>
            <a:off x="1052116" y="6065652"/>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97%</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E05B9B16-CC31-890A-EB18-C198391ACA87}"/>
              </a:ext>
            </a:extLst>
          </p:cNvPr>
          <p:cNvSpPr txBox="1"/>
          <p:nvPr/>
        </p:nvSpPr>
        <p:spPr>
          <a:xfrm>
            <a:off x="148165" y="5244860"/>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CA99E943-61C2-001F-2E86-6BB504A8BCA5}"/>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Noviembre</a:t>
            </a:r>
            <a:endParaRPr lang="es-CO" sz="1600" dirty="0"/>
          </a:p>
        </p:txBody>
      </p:sp>
      <p:sp>
        <p:nvSpPr>
          <p:cNvPr id="29" name="CuadroTexto 28">
            <a:extLst>
              <a:ext uri="{FF2B5EF4-FFF2-40B4-BE49-F238E27FC236}">
                <a16:creationId xmlns:a16="http://schemas.microsoft.com/office/drawing/2014/main" id="{FD6FA386-4DA2-F905-4FF4-15EB8127A018}"/>
              </a:ext>
            </a:extLst>
          </p:cNvPr>
          <p:cNvSpPr txBox="1"/>
          <p:nvPr/>
        </p:nvSpPr>
        <p:spPr>
          <a:xfrm>
            <a:off x="2946879" y="5539275"/>
            <a:ext cx="8695924" cy="830997"/>
          </a:xfrm>
          <a:prstGeom prst="rect">
            <a:avLst/>
          </a:prstGeom>
          <a:noFill/>
          <a:ln w="3175">
            <a:solidFill>
              <a:schemeClr val="tx1"/>
            </a:solidFill>
          </a:ln>
        </p:spPr>
        <p:txBody>
          <a:bodyPr wrap="square" lIns="91440" tIns="45720" rIns="91440" bIns="45720" rtlCol="0" anchor="t">
            <a:spAutoFit/>
          </a:bodyPr>
          <a:lstStyle/>
          <a:p>
            <a:pPr algn="just"/>
            <a:r>
              <a:rPr lang="es-MX" sz="1600" dirty="0"/>
              <a:t>Las novedades identificadas se presentan en el clúster de portafolio y manejo de objeciones, específicamente en el no ofrecimiento de alimentos húmedos o de las referencias correspondientes al canal del PDV.</a:t>
            </a:r>
            <a:endParaRPr lang="es-MX" sz="1600" dirty="0">
              <a:highlight>
                <a:srgbClr val="FFFF00"/>
              </a:highlight>
              <a:latin typeface="+mj-lt"/>
            </a:endParaRPr>
          </a:p>
        </p:txBody>
      </p:sp>
      <p:graphicFrame>
        <p:nvGraphicFramePr>
          <p:cNvPr id="21" name="Gráfico 20">
            <a:extLst>
              <a:ext uri="{FF2B5EF4-FFF2-40B4-BE49-F238E27FC236}">
                <a16:creationId xmlns:a16="http://schemas.microsoft.com/office/drawing/2014/main" id="{9953217C-18DA-CBB4-48A3-E9B18F19458C}"/>
              </a:ext>
            </a:extLst>
          </p:cNvPr>
          <p:cNvGraphicFramePr/>
          <p:nvPr>
            <p:extLst>
              <p:ext uri="{D42A27DB-BD31-4B8C-83A1-F6EECF244321}">
                <p14:modId xmlns:p14="http://schemas.microsoft.com/office/powerpoint/2010/main" val="3360061215"/>
              </p:ext>
            </p:extLst>
          </p:nvPr>
        </p:nvGraphicFramePr>
        <p:xfrm>
          <a:off x="440403" y="5555714"/>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7" name="Imagen 6">
            <a:extLst>
              <a:ext uri="{FF2B5EF4-FFF2-40B4-BE49-F238E27FC236}">
                <a16:creationId xmlns:a16="http://schemas.microsoft.com/office/drawing/2014/main" id="{03FD837E-AB5E-3C69-B042-07643CA8E81E}"/>
              </a:ext>
            </a:extLst>
          </p:cNvPr>
          <p:cNvPicPr>
            <a:picLocks noChangeAspect="1"/>
          </p:cNvPicPr>
          <p:nvPr/>
        </p:nvPicPr>
        <p:blipFill>
          <a:blip r:embed="rId5">
            <a:biLevel thresh="75000"/>
          </a:blip>
          <a:stretch>
            <a:fillRect/>
          </a:stretch>
        </p:blipFill>
        <p:spPr>
          <a:xfrm>
            <a:off x="553869" y="3114104"/>
            <a:ext cx="463336" cy="463336"/>
          </a:xfrm>
          <a:prstGeom prst="rect">
            <a:avLst/>
          </a:prstGeom>
        </p:spPr>
      </p:pic>
      <p:sp>
        <p:nvSpPr>
          <p:cNvPr id="11" name="CuadroTexto 10">
            <a:extLst>
              <a:ext uri="{FF2B5EF4-FFF2-40B4-BE49-F238E27FC236}">
                <a16:creationId xmlns:a16="http://schemas.microsoft.com/office/drawing/2014/main" id="{38F68E9C-B2E3-8322-4ACD-660BFDC728E0}"/>
              </a:ext>
            </a:extLst>
          </p:cNvPr>
          <p:cNvSpPr txBox="1"/>
          <p:nvPr/>
        </p:nvSpPr>
        <p:spPr>
          <a:xfrm>
            <a:off x="1042022" y="3094976"/>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Barranquilla</a:t>
            </a:r>
            <a:endParaRPr lang="es-CO" sz="1600" b="1" dirty="0">
              <a:solidFill>
                <a:schemeClr val="bg1"/>
              </a:solidFill>
            </a:endParaRPr>
          </a:p>
        </p:txBody>
      </p:sp>
      <p:pic>
        <p:nvPicPr>
          <p:cNvPr id="17" name="Imagen 16">
            <a:extLst>
              <a:ext uri="{FF2B5EF4-FFF2-40B4-BE49-F238E27FC236}">
                <a16:creationId xmlns:a16="http://schemas.microsoft.com/office/drawing/2014/main" id="{B11DDF20-2A79-037E-7710-0ECB22757C76}"/>
              </a:ext>
            </a:extLst>
          </p:cNvPr>
          <p:cNvPicPr>
            <a:picLocks noChangeAspect="1"/>
          </p:cNvPicPr>
          <p:nvPr/>
        </p:nvPicPr>
        <p:blipFill>
          <a:blip r:embed="rId5">
            <a:biLevel thresh="75000"/>
          </a:blip>
          <a:stretch>
            <a:fillRect/>
          </a:stretch>
        </p:blipFill>
        <p:spPr>
          <a:xfrm>
            <a:off x="549197" y="3831237"/>
            <a:ext cx="463336" cy="463336"/>
          </a:xfrm>
          <a:prstGeom prst="rect">
            <a:avLst/>
          </a:prstGeom>
        </p:spPr>
      </p:pic>
      <p:sp>
        <p:nvSpPr>
          <p:cNvPr id="18" name="CuadroTexto 17">
            <a:extLst>
              <a:ext uri="{FF2B5EF4-FFF2-40B4-BE49-F238E27FC236}">
                <a16:creationId xmlns:a16="http://schemas.microsoft.com/office/drawing/2014/main" id="{01AB4A1C-3738-E7A8-F02B-B2FAEAC84934}"/>
              </a:ext>
            </a:extLst>
          </p:cNvPr>
          <p:cNvSpPr txBox="1"/>
          <p:nvPr/>
        </p:nvSpPr>
        <p:spPr>
          <a:xfrm>
            <a:off x="1037350" y="3812109"/>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20" name="Imagen 19">
            <a:extLst>
              <a:ext uri="{FF2B5EF4-FFF2-40B4-BE49-F238E27FC236}">
                <a16:creationId xmlns:a16="http://schemas.microsoft.com/office/drawing/2014/main" id="{26EDB7C4-AE68-B636-C9A4-53D6E75EC78E}"/>
              </a:ext>
            </a:extLst>
          </p:cNvPr>
          <p:cNvPicPr>
            <a:picLocks noChangeAspect="1"/>
          </p:cNvPicPr>
          <p:nvPr/>
        </p:nvPicPr>
        <p:blipFill>
          <a:blip r:embed="rId5">
            <a:biLevel thresh="75000"/>
          </a:blip>
          <a:stretch>
            <a:fillRect/>
          </a:stretch>
        </p:blipFill>
        <p:spPr>
          <a:xfrm>
            <a:off x="549197" y="4624557"/>
            <a:ext cx="463336" cy="463336"/>
          </a:xfrm>
          <a:prstGeom prst="rect">
            <a:avLst/>
          </a:prstGeom>
        </p:spPr>
      </p:pic>
      <p:sp>
        <p:nvSpPr>
          <p:cNvPr id="22" name="CuadroTexto 21">
            <a:extLst>
              <a:ext uri="{FF2B5EF4-FFF2-40B4-BE49-F238E27FC236}">
                <a16:creationId xmlns:a16="http://schemas.microsoft.com/office/drawing/2014/main" id="{BD606D6F-D6B4-D5F4-11A1-69502AE372C6}"/>
              </a:ext>
            </a:extLst>
          </p:cNvPr>
          <p:cNvSpPr txBox="1"/>
          <p:nvPr/>
        </p:nvSpPr>
        <p:spPr>
          <a:xfrm>
            <a:off x="1037350" y="4605429"/>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Cali</a:t>
            </a:r>
            <a:endParaRPr lang="es-CO" sz="1600" b="1" dirty="0">
              <a:solidFill>
                <a:schemeClr val="bg1"/>
              </a:solidFill>
            </a:endParaRPr>
          </a:p>
        </p:txBody>
      </p:sp>
      <p:pic>
        <p:nvPicPr>
          <p:cNvPr id="23" name="Imagen 22">
            <a:extLst>
              <a:ext uri="{FF2B5EF4-FFF2-40B4-BE49-F238E27FC236}">
                <a16:creationId xmlns:a16="http://schemas.microsoft.com/office/drawing/2014/main" id="{6CA9D5B9-0426-48CE-48F5-72640172D189}"/>
              </a:ext>
            </a:extLst>
          </p:cNvPr>
          <p:cNvPicPr>
            <a:picLocks noChangeAspect="1"/>
          </p:cNvPicPr>
          <p:nvPr/>
        </p:nvPicPr>
        <p:blipFill>
          <a:blip r:embed="rId5">
            <a:biLevel thresh="75000"/>
          </a:blip>
          <a:stretch>
            <a:fillRect/>
          </a:stretch>
        </p:blipFill>
        <p:spPr>
          <a:xfrm>
            <a:off x="549197" y="762781"/>
            <a:ext cx="463336" cy="463336"/>
          </a:xfrm>
          <a:prstGeom prst="rect">
            <a:avLst/>
          </a:prstGeom>
        </p:spPr>
      </p:pic>
      <p:sp>
        <p:nvSpPr>
          <p:cNvPr id="24" name="CuadroTexto 23">
            <a:extLst>
              <a:ext uri="{FF2B5EF4-FFF2-40B4-BE49-F238E27FC236}">
                <a16:creationId xmlns:a16="http://schemas.microsoft.com/office/drawing/2014/main" id="{3CEFB341-F2E8-CFC8-5DF7-829D08F59E34}"/>
              </a:ext>
            </a:extLst>
          </p:cNvPr>
          <p:cNvSpPr txBox="1"/>
          <p:nvPr/>
        </p:nvSpPr>
        <p:spPr>
          <a:xfrm>
            <a:off x="1052116" y="706489"/>
            <a:ext cx="1613504" cy="584775"/>
          </a:xfrm>
          <a:prstGeom prst="rect">
            <a:avLst/>
          </a:prstGeom>
          <a:noFill/>
        </p:spPr>
        <p:txBody>
          <a:bodyPr wrap="square" rtlCol="0">
            <a:spAutoFit/>
          </a:bodyPr>
          <a:lstStyle/>
          <a:p>
            <a:r>
              <a:rPr lang="es-MX" sz="1600" dirty="0">
                <a:solidFill>
                  <a:schemeClr val="bg1"/>
                </a:solidFill>
              </a:rPr>
              <a:t> 1 Mystery</a:t>
            </a:r>
          </a:p>
          <a:p>
            <a:r>
              <a:rPr lang="es-MX" sz="1600" b="1" dirty="0">
                <a:solidFill>
                  <a:schemeClr val="bg1"/>
                </a:solidFill>
              </a:rPr>
              <a:t>Envigado</a:t>
            </a:r>
            <a:endParaRPr lang="es-CO" sz="1600" b="1" dirty="0">
              <a:solidFill>
                <a:schemeClr val="bg1"/>
              </a:solidFill>
            </a:endParaRPr>
          </a:p>
        </p:txBody>
      </p:sp>
      <p:pic>
        <p:nvPicPr>
          <p:cNvPr id="25" name="Imagen 24">
            <a:extLst>
              <a:ext uri="{FF2B5EF4-FFF2-40B4-BE49-F238E27FC236}">
                <a16:creationId xmlns:a16="http://schemas.microsoft.com/office/drawing/2014/main" id="{F2A77203-082E-2911-A36A-C576DB24A959}"/>
              </a:ext>
            </a:extLst>
          </p:cNvPr>
          <p:cNvPicPr>
            <a:picLocks noChangeAspect="1"/>
          </p:cNvPicPr>
          <p:nvPr/>
        </p:nvPicPr>
        <p:blipFill>
          <a:blip r:embed="rId5">
            <a:biLevel thresh="75000"/>
          </a:blip>
          <a:stretch>
            <a:fillRect/>
          </a:stretch>
        </p:blipFill>
        <p:spPr>
          <a:xfrm>
            <a:off x="553869" y="1510411"/>
            <a:ext cx="463336" cy="463336"/>
          </a:xfrm>
          <a:prstGeom prst="rect">
            <a:avLst/>
          </a:prstGeom>
        </p:spPr>
      </p:pic>
      <p:sp>
        <p:nvSpPr>
          <p:cNvPr id="26" name="CuadroTexto 25">
            <a:extLst>
              <a:ext uri="{FF2B5EF4-FFF2-40B4-BE49-F238E27FC236}">
                <a16:creationId xmlns:a16="http://schemas.microsoft.com/office/drawing/2014/main" id="{770609B5-29C4-31A2-FBAF-3F256105E29F}"/>
              </a:ext>
            </a:extLst>
          </p:cNvPr>
          <p:cNvSpPr txBox="1"/>
          <p:nvPr/>
        </p:nvSpPr>
        <p:spPr>
          <a:xfrm>
            <a:off x="1042022" y="1491283"/>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Cartagena</a:t>
            </a:r>
            <a:endParaRPr lang="es-CO" sz="1600" b="1" dirty="0">
              <a:solidFill>
                <a:schemeClr val="bg1"/>
              </a:solidFill>
            </a:endParaRPr>
          </a:p>
        </p:txBody>
      </p:sp>
      <p:pic>
        <p:nvPicPr>
          <p:cNvPr id="27" name="Imagen 26">
            <a:extLst>
              <a:ext uri="{FF2B5EF4-FFF2-40B4-BE49-F238E27FC236}">
                <a16:creationId xmlns:a16="http://schemas.microsoft.com/office/drawing/2014/main" id="{CBA00854-0936-88E6-BBF6-5972C24F3DE1}"/>
              </a:ext>
            </a:extLst>
          </p:cNvPr>
          <p:cNvPicPr>
            <a:picLocks noChangeAspect="1"/>
          </p:cNvPicPr>
          <p:nvPr/>
        </p:nvPicPr>
        <p:blipFill>
          <a:blip r:embed="rId5">
            <a:biLevel thresh="75000"/>
          </a:blip>
          <a:stretch>
            <a:fillRect/>
          </a:stretch>
        </p:blipFill>
        <p:spPr>
          <a:xfrm>
            <a:off x="549197" y="2299457"/>
            <a:ext cx="463336" cy="463336"/>
          </a:xfrm>
          <a:prstGeom prst="rect">
            <a:avLst/>
          </a:prstGeom>
        </p:spPr>
      </p:pic>
      <p:sp>
        <p:nvSpPr>
          <p:cNvPr id="28" name="CuadroTexto 27">
            <a:extLst>
              <a:ext uri="{FF2B5EF4-FFF2-40B4-BE49-F238E27FC236}">
                <a16:creationId xmlns:a16="http://schemas.microsoft.com/office/drawing/2014/main" id="{4A6E974B-E2FC-4506-8D48-8BA2D2DCFB19}"/>
              </a:ext>
            </a:extLst>
          </p:cNvPr>
          <p:cNvSpPr txBox="1"/>
          <p:nvPr/>
        </p:nvSpPr>
        <p:spPr>
          <a:xfrm>
            <a:off x="1037350" y="2280329"/>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Medellín </a:t>
            </a:r>
            <a:endParaRPr lang="es-CO" sz="1600" b="1" dirty="0">
              <a:solidFill>
                <a:schemeClr val="bg1"/>
              </a:solidFill>
            </a:endParaRPr>
          </a:p>
        </p:txBody>
      </p:sp>
      <p:pic>
        <p:nvPicPr>
          <p:cNvPr id="35" name="Imagen 34">
            <a:extLst>
              <a:ext uri="{FF2B5EF4-FFF2-40B4-BE49-F238E27FC236}">
                <a16:creationId xmlns:a16="http://schemas.microsoft.com/office/drawing/2014/main" id="{5232D2D7-B34C-D317-6C74-D4E590F51F71}"/>
              </a:ext>
            </a:extLst>
          </p:cNvPr>
          <p:cNvPicPr>
            <a:picLocks noChangeAspect="1"/>
          </p:cNvPicPr>
          <p:nvPr/>
        </p:nvPicPr>
        <p:blipFill>
          <a:blip r:embed="rId6"/>
          <a:stretch>
            <a:fillRect/>
          </a:stretch>
        </p:blipFill>
        <p:spPr>
          <a:xfrm>
            <a:off x="2946879" y="1577527"/>
            <a:ext cx="7111520" cy="1872536"/>
          </a:xfrm>
          <a:prstGeom prst="rect">
            <a:avLst/>
          </a:prstGeom>
        </p:spPr>
      </p:pic>
      <p:pic>
        <p:nvPicPr>
          <p:cNvPr id="36" name="Imagen 35">
            <a:extLst>
              <a:ext uri="{FF2B5EF4-FFF2-40B4-BE49-F238E27FC236}">
                <a16:creationId xmlns:a16="http://schemas.microsoft.com/office/drawing/2014/main" id="{F20DE1E0-EDE6-213B-F25B-A6F188563AFE}"/>
              </a:ext>
            </a:extLst>
          </p:cNvPr>
          <p:cNvPicPr>
            <a:picLocks noChangeAspect="1"/>
          </p:cNvPicPr>
          <p:nvPr/>
        </p:nvPicPr>
        <p:blipFill>
          <a:blip r:embed="rId7"/>
          <a:stretch>
            <a:fillRect/>
          </a:stretch>
        </p:blipFill>
        <p:spPr>
          <a:xfrm>
            <a:off x="2949215" y="3526212"/>
            <a:ext cx="8691252" cy="1872536"/>
          </a:xfrm>
          <a:prstGeom prst="rect">
            <a:avLst/>
          </a:prstGeom>
        </p:spPr>
      </p:pic>
    </p:spTree>
    <p:extLst>
      <p:ext uri="{BB962C8B-B14F-4D97-AF65-F5344CB8AC3E}">
        <p14:creationId xmlns:p14="http://schemas.microsoft.com/office/powerpoint/2010/main" val="3135349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2952-CEA5-951C-9199-D0F42B5DBDB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3AA2379-C49A-40FA-9945-2F2C1B3462A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671CEC5A-D5B5-03CF-4980-01896B06B9E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644BDCA9-2876-7713-D4AD-8FFE2E0B8B0B}"/>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MERCAFULL - </a:t>
            </a:r>
            <a:r>
              <a:rPr lang="es-MX" sz="1800" b="1" i="0" u="none" strike="noStrike" dirty="0">
                <a:solidFill>
                  <a:srgbClr val="000000"/>
                </a:solidFill>
                <a:effectLst/>
                <a:latin typeface="Aptos Narrow" panose="020B0004020202020204" pitchFamily="34" charset="0"/>
              </a:rPr>
              <a:t>BARRANQUILLA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D63C17C-2BB4-F6F7-8DE1-1793234DF85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DD770501-E6E1-9A62-19AC-5020EA09D1EF}"/>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https://drive.google.com/file/d/1_5AbmdRqQFCxnteNFMbe3md6cU1eH5Oc/view?usp=drive_link</a:t>
            </a:r>
            <a:endParaRPr lang="es-CO" u="sng" dirty="0"/>
          </a:p>
        </p:txBody>
      </p:sp>
      <p:sp>
        <p:nvSpPr>
          <p:cNvPr id="2" name="CuadroTexto 1">
            <a:extLst>
              <a:ext uri="{FF2B5EF4-FFF2-40B4-BE49-F238E27FC236}">
                <a16:creationId xmlns:a16="http://schemas.microsoft.com/office/drawing/2014/main" id="{FEA26E1E-4ACA-672A-001E-BC93500F1F11}"/>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5" name="Imagen 4" descr="Icono&#10;&#10;Descripción generada automáticamente">
            <a:extLst>
              <a:ext uri="{FF2B5EF4-FFF2-40B4-BE49-F238E27FC236}">
                <a16:creationId xmlns:a16="http://schemas.microsoft.com/office/drawing/2014/main" id="{76284FF0-B1E7-6358-0B01-15E6552A8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7" name="Imagen 6">
            <a:extLst>
              <a:ext uri="{FF2B5EF4-FFF2-40B4-BE49-F238E27FC236}">
                <a16:creationId xmlns:a16="http://schemas.microsoft.com/office/drawing/2014/main" id="{CFB91842-A3E7-3C07-C340-ABC2099A0BFB}"/>
              </a:ext>
            </a:extLst>
          </p:cNvPr>
          <p:cNvPicPr>
            <a:picLocks noChangeAspect="1"/>
          </p:cNvPicPr>
          <p:nvPr/>
        </p:nvPicPr>
        <p:blipFill>
          <a:blip r:embed="rId4"/>
          <a:stretch>
            <a:fillRect/>
          </a:stretch>
        </p:blipFill>
        <p:spPr>
          <a:xfrm>
            <a:off x="3020834" y="1213303"/>
            <a:ext cx="6527898" cy="2003908"/>
          </a:xfrm>
          <a:prstGeom prst="rect">
            <a:avLst/>
          </a:prstGeom>
        </p:spPr>
      </p:pic>
    </p:spTree>
    <p:extLst>
      <p:ext uri="{BB962C8B-B14F-4D97-AF65-F5344CB8AC3E}">
        <p14:creationId xmlns:p14="http://schemas.microsoft.com/office/powerpoint/2010/main" val="2549534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2ECE-B13F-970C-FBC8-3B79451981D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05C490F-6124-9A31-37E1-1F82D5DAAA8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174BCBB5-D4EE-3CF3-7BF0-1DF6D1A212A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0E2745FE-A0F9-27E0-71F2-773BAF3F720B}"/>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ALMACEN MI CORRAL 84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5A37219-4E80-AFD6-6C54-80902834497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A49F2CA2-9CE3-D419-32BB-88B456FF0B65}"/>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https://drive.google.com/file/d/1YugIf1WCR0txgrOtQvKZVyugBY9Zcjyp/view?usp=drive_link</a:t>
            </a:r>
            <a:endParaRPr lang="es-CO" sz="1600" u="sng" dirty="0">
              <a:solidFill>
                <a:srgbClr val="000000"/>
              </a:solidFill>
              <a:latin typeface="Aptos Narrow" panose="020B0004020202020204" pitchFamily="34" charset="0"/>
            </a:endParaRPr>
          </a:p>
        </p:txBody>
      </p:sp>
      <p:pic>
        <p:nvPicPr>
          <p:cNvPr id="2" name="Imagen 1">
            <a:extLst>
              <a:ext uri="{FF2B5EF4-FFF2-40B4-BE49-F238E27FC236}">
                <a16:creationId xmlns:a16="http://schemas.microsoft.com/office/drawing/2014/main" id="{043B9BAF-14E4-38CC-2432-75EE1537A0DB}"/>
              </a:ext>
            </a:extLst>
          </p:cNvPr>
          <p:cNvPicPr>
            <a:picLocks noChangeAspect="1"/>
          </p:cNvPicPr>
          <p:nvPr/>
        </p:nvPicPr>
        <p:blipFill>
          <a:blip r:embed="rId3"/>
          <a:stretch>
            <a:fillRect/>
          </a:stretch>
        </p:blipFill>
        <p:spPr>
          <a:xfrm>
            <a:off x="3020834" y="1203780"/>
            <a:ext cx="6527897" cy="2003908"/>
          </a:xfrm>
          <a:prstGeom prst="rect">
            <a:avLst/>
          </a:prstGeom>
        </p:spPr>
      </p:pic>
      <p:sp>
        <p:nvSpPr>
          <p:cNvPr id="5" name="CuadroTexto 4">
            <a:extLst>
              <a:ext uri="{FF2B5EF4-FFF2-40B4-BE49-F238E27FC236}">
                <a16:creationId xmlns:a16="http://schemas.microsoft.com/office/drawing/2014/main" id="{20A34FFA-D8B6-B012-9C6B-FFF26F57682C}"/>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63C17357-0230-100E-48E4-3703AFE10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4191660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0438-B48A-2068-E54D-91B1EDF3B66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6CA6D66-F9E4-488A-F33B-89704E9D24E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FCCE087-7E4C-B085-6DE4-363BE3AA271A}"/>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CC63C1B-15C6-38F0-DFCC-D05E89BDF3B7}"/>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EXITO COLINA - BOGOTÁ</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923EDEED-8653-C9FD-FDD0-A03AA6EF10B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1565E58F-2F0B-F305-4892-FC848228E513}"/>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https://drive.google.com/file/d/1h-ox-hqf1c5ucmKCa29tl-Sk_T2hgv9e/view?usp=drive_link</a:t>
            </a:r>
            <a:endParaRPr lang="es-CO" u="sng" dirty="0"/>
          </a:p>
        </p:txBody>
      </p:sp>
      <p:sp>
        <p:nvSpPr>
          <p:cNvPr id="2" name="CuadroTexto 1">
            <a:extLst>
              <a:ext uri="{FF2B5EF4-FFF2-40B4-BE49-F238E27FC236}">
                <a16:creationId xmlns:a16="http://schemas.microsoft.com/office/drawing/2014/main" id="{2B51FC17-FAFA-CCAF-8F68-255ED13F0C92}"/>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a:extLst>
              <a:ext uri="{FF2B5EF4-FFF2-40B4-BE49-F238E27FC236}">
                <a16:creationId xmlns:a16="http://schemas.microsoft.com/office/drawing/2014/main" id="{0EF1C98E-8A03-DF6D-85E3-EF2E4A33EE9C}"/>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753213D4-329B-A371-2681-78C92E0F44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402810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7A4C2-82AE-74AD-64A4-4E780736597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A6564AB-5F3F-AEC6-76B2-724448626E2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1C8E6B4A-9FFF-15A9-F5E0-0E41C7B82BEF}"/>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FA7A693-F638-6974-2D74-3FEDFB2B619D}"/>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HAYUELOS - BOGOTÁ</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BF61CFA9-A7FB-575F-D8E7-E05D07AD6B8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3C878BBF-4ABD-A567-36E5-901D6CDD236D}"/>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https://drive.google.com/file/d/1QZZeRA-ClabuUlw9HGwg6McPvJGVoCbt/view?usp=drive_link</a:t>
            </a:r>
            <a:endParaRPr lang="es-CO" u="sng" dirty="0"/>
          </a:p>
        </p:txBody>
      </p:sp>
      <p:sp>
        <p:nvSpPr>
          <p:cNvPr id="2" name="CuadroTexto 1">
            <a:extLst>
              <a:ext uri="{FF2B5EF4-FFF2-40B4-BE49-F238E27FC236}">
                <a16:creationId xmlns:a16="http://schemas.microsoft.com/office/drawing/2014/main" id="{91ED50A9-445C-3333-F9FA-916BB22B6188}"/>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que </a:t>
            </a:r>
            <a:r>
              <a:rPr lang="es-ES" sz="1600" dirty="0"/>
              <a:t>el asesor no presenta conocimiento en cuanto a beneficios de productos, no dispone de información completa y clara de componentes del producto y porcentaje de proteína. </a:t>
            </a:r>
          </a:p>
          <a:p>
            <a:pPr marL="285750" indent="-285750" algn="just">
              <a:buFont typeface="Wingdings" panose="05000000000000000000" pitchFamily="2" charset="2"/>
              <a:buChar char="Ø"/>
            </a:pPr>
            <a:r>
              <a:rPr lang="es-ES" sz="1600" dirty="0"/>
              <a:t>Algunos productos no disponen de precios en lineal.</a:t>
            </a:r>
            <a:endParaRPr lang="es-MX" sz="1600" dirty="0">
              <a:latin typeface="+mj-lt"/>
            </a:endParaRPr>
          </a:p>
        </p:txBody>
      </p:sp>
      <p:pic>
        <p:nvPicPr>
          <p:cNvPr id="5" name="Imagen 4" descr="Icono&#10;&#10;Descripción generada automáticamente">
            <a:extLst>
              <a:ext uri="{FF2B5EF4-FFF2-40B4-BE49-F238E27FC236}">
                <a16:creationId xmlns:a16="http://schemas.microsoft.com/office/drawing/2014/main" id="{C9CB8F6D-511E-693D-50E5-A9D5098D49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3C1B773D-C236-423C-3A80-3FF58EAE0E37}"/>
              </a:ext>
            </a:extLst>
          </p:cNvPr>
          <p:cNvPicPr>
            <a:picLocks noChangeAspect="1"/>
          </p:cNvPicPr>
          <p:nvPr/>
        </p:nvPicPr>
        <p:blipFill>
          <a:blip r:embed="rId4"/>
          <a:stretch>
            <a:fillRect/>
          </a:stretch>
        </p:blipFill>
        <p:spPr>
          <a:xfrm>
            <a:off x="3020834" y="1203780"/>
            <a:ext cx="6527898" cy="2003908"/>
          </a:xfrm>
          <a:prstGeom prst="rect">
            <a:avLst/>
          </a:prstGeom>
        </p:spPr>
      </p:pic>
    </p:spTree>
    <p:extLst>
      <p:ext uri="{BB962C8B-B14F-4D97-AF65-F5344CB8AC3E}">
        <p14:creationId xmlns:p14="http://schemas.microsoft.com/office/powerpoint/2010/main" val="3180800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F978A-D444-3F40-7551-F51BA533832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33DBF28-D28F-A28C-E933-53606715D32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02DFC6C-3CE6-6BA3-6E86-33276B7A78C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A41E931-A346-1F4E-21EA-085246D6B7DF}"/>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PUPPIS MODELIA </a:t>
            </a:r>
            <a:r>
              <a:rPr lang="es-MX" sz="1800" b="1" i="0" u="none" strike="noStrike" dirty="0">
                <a:solidFill>
                  <a:srgbClr val="000000"/>
                </a:solidFill>
                <a:effectLst/>
                <a:latin typeface="Aptos Narrow" panose="020B0004020202020204" pitchFamily="34" charset="0"/>
              </a:rPr>
              <a:t>-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5623B81A-8A17-AA44-4A66-168C25A8895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F18C0FEB-B1EF-8F9C-5FFE-58E4F944BBEA}"/>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https://drive.google.com/file/d/1r-5DnZvXxGu6nSKzWxen4OOQOe6GoSxa/view?usp=drive_link</a:t>
            </a:r>
            <a:endParaRPr lang="es-CO" u="sng" dirty="0"/>
          </a:p>
        </p:txBody>
      </p:sp>
      <p:pic>
        <p:nvPicPr>
          <p:cNvPr id="2" name="Imagen 1">
            <a:extLst>
              <a:ext uri="{FF2B5EF4-FFF2-40B4-BE49-F238E27FC236}">
                <a16:creationId xmlns:a16="http://schemas.microsoft.com/office/drawing/2014/main" id="{340D0978-E5B8-1BC5-5732-EA0726B1609B}"/>
              </a:ext>
            </a:extLst>
          </p:cNvPr>
          <p:cNvPicPr>
            <a:picLocks noChangeAspect="1"/>
          </p:cNvPicPr>
          <p:nvPr/>
        </p:nvPicPr>
        <p:blipFill>
          <a:blip r:embed="rId3"/>
          <a:stretch>
            <a:fillRect/>
          </a:stretch>
        </p:blipFill>
        <p:spPr>
          <a:xfrm>
            <a:off x="3020834" y="1203780"/>
            <a:ext cx="6527897" cy="2003908"/>
          </a:xfrm>
          <a:prstGeom prst="rect">
            <a:avLst/>
          </a:prstGeom>
        </p:spPr>
      </p:pic>
      <p:sp>
        <p:nvSpPr>
          <p:cNvPr id="5" name="CuadroTexto 4">
            <a:extLst>
              <a:ext uri="{FF2B5EF4-FFF2-40B4-BE49-F238E27FC236}">
                <a16:creationId xmlns:a16="http://schemas.microsoft.com/office/drawing/2014/main" id="{3C0A9DD0-76B8-C5FA-0194-C6F9BBAD8723}"/>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E8789DD6-2E0C-C6DB-3C64-B796751150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832973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2AC0A-1C79-9CA5-1B9D-162D2CDEFB9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4E09D02-7AE8-6662-7552-4500910DEDA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5004E6EC-DDB5-B19D-71DE-A0B22BD248C6}"/>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8966B266-D4CF-2FC8-1A33-242FCCE6B629}"/>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CLÍNICA VETERINARIA ENVALLE S.A.S. </a:t>
            </a:r>
            <a:r>
              <a:rPr lang="es-MX" sz="1800" b="1" i="0" u="none" strike="noStrike" dirty="0">
                <a:solidFill>
                  <a:srgbClr val="000000"/>
                </a:solidFill>
                <a:effectLst/>
                <a:latin typeface="Aptos Narrow" panose="020B0004020202020204" pitchFamily="34" charset="0"/>
              </a:rPr>
              <a:t>-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EF8AD783-AB54-DF17-FAAC-49C294FFAEA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BFC2E552-74D5-8C6C-AD8A-96C20D6D6E40}"/>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https://drive.google.com/file/d/1-8aJjs_9f_QcVIIg5qihQ5TW4AzT4ucG/view?usp=drive_link</a:t>
            </a:r>
            <a:endParaRPr lang="es-CO" u="sng" dirty="0"/>
          </a:p>
        </p:txBody>
      </p:sp>
      <p:sp>
        <p:nvSpPr>
          <p:cNvPr id="5" name="CuadroTexto 4">
            <a:extLst>
              <a:ext uri="{FF2B5EF4-FFF2-40B4-BE49-F238E27FC236}">
                <a16:creationId xmlns:a16="http://schemas.microsoft.com/office/drawing/2014/main" id="{588FEACC-5C86-5199-941A-E3E50AAA5160}"/>
              </a:ext>
            </a:extLst>
          </p:cNvPr>
          <p:cNvSpPr txBox="1"/>
          <p:nvPr/>
        </p:nvSpPr>
        <p:spPr>
          <a:xfrm>
            <a:off x="3020834" y="4094081"/>
            <a:ext cx="6527898" cy="1323439"/>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a:t>
            </a:r>
            <a:r>
              <a:rPr lang="es-ES" sz="1600" dirty="0"/>
              <a:t>que no realiza ofrecimiento de alimento húmedo ni enfatiza en los packs, ni menciona las 3 variedades que tiene el producto.</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3DB4CF51-0D17-F08E-8B1A-93CD916EF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99736A37-A665-5996-2BE5-F1D066300C0C}"/>
              </a:ext>
            </a:extLst>
          </p:cNvPr>
          <p:cNvPicPr>
            <a:picLocks noChangeAspect="1"/>
          </p:cNvPicPr>
          <p:nvPr/>
        </p:nvPicPr>
        <p:blipFill>
          <a:blip r:embed="rId4"/>
          <a:stretch>
            <a:fillRect/>
          </a:stretch>
        </p:blipFill>
        <p:spPr>
          <a:xfrm>
            <a:off x="3020834" y="1194258"/>
            <a:ext cx="6527898" cy="2003908"/>
          </a:xfrm>
          <a:prstGeom prst="rect">
            <a:avLst/>
          </a:prstGeom>
        </p:spPr>
      </p:pic>
    </p:spTree>
    <p:extLst>
      <p:ext uri="{BB962C8B-B14F-4D97-AF65-F5344CB8AC3E}">
        <p14:creationId xmlns:p14="http://schemas.microsoft.com/office/powerpoint/2010/main" val="3724495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6ABA-A21B-784E-0380-B31F1782D21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2E15EFD-C1BB-4964-CEE4-0E8CA193598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40EECC38-B9CF-1773-F157-058CAE5C7CD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0D3D79F-D951-5092-92BD-7516AF33A047}"/>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VALLE DEL LILI -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3597333C-BC97-80CA-6FD8-C46A6ECB31C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7CCF8FF6-1B5E-574E-2C52-7C31631F6CA0}"/>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https://drive.google.com/file/d/1fCeKLL9ntgdSDvkxMxurdbZ_BgMrPNec/view?usp=drive_link</a:t>
            </a:r>
            <a:endParaRPr lang="es-CO" u="sng" dirty="0"/>
          </a:p>
        </p:txBody>
      </p:sp>
      <p:sp>
        <p:nvSpPr>
          <p:cNvPr id="2" name="CuadroTexto 1">
            <a:extLst>
              <a:ext uri="{FF2B5EF4-FFF2-40B4-BE49-F238E27FC236}">
                <a16:creationId xmlns:a16="http://schemas.microsoft.com/office/drawing/2014/main" id="{9C914B2D-3E41-6132-155D-E32BF9F79373}"/>
              </a:ext>
            </a:extLst>
          </p:cNvPr>
          <p:cNvSpPr txBox="1"/>
          <p:nvPr/>
        </p:nvSpPr>
        <p:spPr>
          <a:xfrm>
            <a:off x="3020834" y="4094081"/>
            <a:ext cx="6527898" cy="1323439"/>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que </a:t>
            </a:r>
            <a:r>
              <a:rPr lang="es-ES" sz="1600" dirty="0"/>
              <a:t>el asesor no comunica claramente como hacer la transición del producto ni realiza ofrecimiento adecuado de los obsequios que se encuentran disponibles.</a:t>
            </a:r>
            <a:endParaRPr lang="es-MX" sz="1600" dirty="0">
              <a:latin typeface="+mj-lt"/>
            </a:endParaRPr>
          </a:p>
        </p:txBody>
      </p:sp>
      <p:pic>
        <p:nvPicPr>
          <p:cNvPr id="5" name="Imagen 4" descr="Icono&#10;&#10;Descripción generada automáticamente">
            <a:extLst>
              <a:ext uri="{FF2B5EF4-FFF2-40B4-BE49-F238E27FC236}">
                <a16:creationId xmlns:a16="http://schemas.microsoft.com/office/drawing/2014/main" id="{124DE5CA-B0B8-F208-0CE2-9A20D309BF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6" name="Imagen 5">
            <a:extLst>
              <a:ext uri="{FF2B5EF4-FFF2-40B4-BE49-F238E27FC236}">
                <a16:creationId xmlns:a16="http://schemas.microsoft.com/office/drawing/2014/main" id="{42C4EC84-266A-BEF9-6517-8392A456574C}"/>
              </a:ext>
            </a:extLst>
          </p:cNvPr>
          <p:cNvPicPr>
            <a:picLocks noChangeAspect="1"/>
          </p:cNvPicPr>
          <p:nvPr/>
        </p:nvPicPr>
        <p:blipFill>
          <a:blip r:embed="rId4"/>
          <a:stretch>
            <a:fillRect/>
          </a:stretch>
        </p:blipFill>
        <p:spPr>
          <a:xfrm>
            <a:off x="3020834" y="1203780"/>
            <a:ext cx="6527898" cy="2003908"/>
          </a:xfrm>
          <a:prstGeom prst="rect">
            <a:avLst/>
          </a:prstGeom>
        </p:spPr>
      </p:pic>
    </p:spTree>
    <p:extLst>
      <p:ext uri="{BB962C8B-B14F-4D97-AF65-F5344CB8AC3E}">
        <p14:creationId xmlns:p14="http://schemas.microsoft.com/office/powerpoint/2010/main" val="3424735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BA12-8730-95A3-C8EB-AEC7A1DC15F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3AA7555-FB69-276B-9B9B-2284F523AC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4B0E0612-BBBE-7FEF-CE2B-14DF2B31ED6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6533422-A11F-0EDE-FA9A-3C8C174F9FE6}"/>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ROYAL PET -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B549BA85-A7D5-11C1-3E23-5347AFBE838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1385F6EE-20AD-1278-7C61-095526967E2A}"/>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https://drive.google.com/file/d/1ace_pa6Rp1OhEtAu_pnCku9wbEsgojlJ/view?usp=drive_link</a:t>
            </a:r>
            <a:endParaRPr lang="es-CO" u="sng" dirty="0"/>
          </a:p>
        </p:txBody>
      </p:sp>
      <p:sp>
        <p:nvSpPr>
          <p:cNvPr id="5" name="CuadroTexto 4">
            <a:extLst>
              <a:ext uri="{FF2B5EF4-FFF2-40B4-BE49-F238E27FC236}">
                <a16:creationId xmlns:a16="http://schemas.microsoft.com/office/drawing/2014/main" id="{9FDA7790-05EA-8F97-3559-37C6510746F8}"/>
              </a:ext>
            </a:extLst>
          </p:cNvPr>
          <p:cNvSpPr txBox="1"/>
          <p:nvPr/>
        </p:nvSpPr>
        <p:spPr>
          <a:xfrm>
            <a:off x="3020834" y="4094081"/>
            <a:ext cx="6527898" cy="1323439"/>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a:t>
            </a:r>
            <a:r>
              <a:rPr lang="es-ES" sz="1600" dirty="0"/>
              <a:t>que no realiza ofrecimiento de alimento húmedo ni enfatiza en los packs, ni menciona las 3 variedades que tiene el producto.</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E24A90E9-DBAC-9104-CFFE-77BAA453D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2" name="Imagen 1">
            <a:extLst>
              <a:ext uri="{FF2B5EF4-FFF2-40B4-BE49-F238E27FC236}">
                <a16:creationId xmlns:a16="http://schemas.microsoft.com/office/drawing/2014/main" id="{50F66383-9F3A-5B24-32E1-D715EC1B3322}"/>
              </a:ext>
            </a:extLst>
          </p:cNvPr>
          <p:cNvPicPr>
            <a:picLocks noChangeAspect="1"/>
          </p:cNvPicPr>
          <p:nvPr/>
        </p:nvPicPr>
        <p:blipFill>
          <a:blip r:embed="rId4"/>
          <a:stretch>
            <a:fillRect/>
          </a:stretch>
        </p:blipFill>
        <p:spPr>
          <a:xfrm>
            <a:off x="3020834" y="1194258"/>
            <a:ext cx="6527898" cy="2003908"/>
          </a:xfrm>
          <a:prstGeom prst="rect">
            <a:avLst/>
          </a:prstGeom>
        </p:spPr>
      </p:pic>
    </p:spTree>
    <p:extLst>
      <p:ext uri="{BB962C8B-B14F-4D97-AF65-F5344CB8AC3E}">
        <p14:creationId xmlns:p14="http://schemas.microsoft.com/office/powerpoint/2010/main" val="2873661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1945-1968-3B11-E25B-774A8FE76F3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5A80617-750B-CCD6-85FC-7C3935157A3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D4BAD1B3-81FE-9E8A-164F-FD257ED83EE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3195DB84-BC9B-375C-4842-8DC17CDA722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MERKAMAS LEMETRE - CARTAGENA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CA4FCF8E-0102-2B0F-C02E-F807C46767F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BB6F47D4-1B83-64A2-FAA6-18CED7B018F2}"/>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https://drive.google.com/file/d/1Gqj9GUC6dqCUeeCq9YXEDFdTjZRibOq3/view?usp=drive_link</a:t>
            </a:r>
            <a:endParaRPr lang="es-CO" u="sng" dirty="0"/>
          </a:p>
        </p:txBody>
      </p:sp>
      <p:sp>
        <p:nvSpPr>
          <p:cNvPr id="2" name="CuadroTexto 1">
            <a:extLst>
              <a:ext uri="{FF2B5EF4-FFF2-40B4-BE49-F238E27FC236}">
                <a16:creationId xmlns:a16="http://schemas.microsoft.com/office/drawing/2014/main" id="{C3D06C5C-4340-618A-69CB-C8D0FA912EA9}"/>
              </a:ext>
            </a:extLst>
          </p:cNvPr>
          <p:cNvSpPr txBox="1"/>
          <p:nvPr/>
        </p:nvSpPr>
        <p:spPr>
          <a:xfrm>
            <a:off x="3020834" y="4094081"/>
            <a:ext cx="6527898"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que no </a:t>
            </a:r>
            <a:r>
              <a:rPr lang="es-ES" sz="1600" dirty="0"/>
              <a:t>hace mención de las innovaciones que se tienen en el PDV como cat 200gr Félix triple deli y mega mix de wet y dog chow alta proteína de 350gr 475gr.</a:t>
            </a:r>
            <a:br>
              <a:rPr lang="es-ES" sz="1600" dirty="0"/>
            </a:br>
            <a:br>
              <a:rPr lang="es-ES" sz="1600" dirty="0"/>
            </a:br>
            <a:r>
              <a:rPr lang="es-ES" sz="1600" dirty="0"/>
              <a:t>Se evidencia un alto volumen de la música del punto de venta</a:t>
            </a:r>
            <a:endParaRPr lang="es-MX" sz="1600" dirty="0">
              <a:latin typeface="+mj-lt"/>
            </a:endParaRPr>
          </a:p>
        </p:txBody>
      </p:sp>
      <p:pic>
        <p:nvPicPr>
          <p:cNvPr id="5" name="Imagen 4" descr="Icono&#10;&#10;Descripción generada automáticamente">
            <a:extLst>
              <a:ext uri="{FF2B5EF4-FFF2-40B4-BE49-F238E27FC236}">
                <a16:creationId xmlns:a16="http://schemas.microsoft.com/office/drawing/2014/main" id="{5DCE5026-0255-1C62-CCA4-855CE50A96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11" name="Imagen 10">
            <a:extLst>
              <a:ext uri="{FF2B5EF4-FFF2-40B4-BE49-F238E27FC236}">
                <a16:creationId xmlns:a16="http://schemas.microsoft.com/office/drawing/2014/main" id="{159B9686-A652-EDBA-E6FA-FC09EBAE8F66}"/>
              </a:ext>
            </a:extLst>
          </p:cNvPr>
          <p:cNvPicPr>
            <a:picLocks noChangeAspect="1"/>
          </p:cNvPicPr>
          <p:nvPr/>
        </p:nvPicPr>
        <p:blipFill>
          <a:blip r:embed="rId4"/>
          <a:stretch>
            <a:fillRect/>
          </a:stretch>
        </p:blipFill>
        <p:spPr>
          <a:xfrm>
            <a:off x="3017110" y="1213303"/>
            <a:ext cx="6527898" cy="2003908"/>
          </a:xfrm>
          <a:prstGeom prst="rect">
            <a:avLst/>
          </a:prstGeom>
        </p:spPr>
      </p:pic>
    </p:spTree>
    <p:extLst>
      <p:ext uri="{BB962C8B-B14F-4D97-AF65-F5344CB8AC3E}">
        <p14:creationId xmlns:p14="http://schemas.microsoft.com/office/powerpoint/2010/main" val="2400656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F74E-A31B-D6C0-9020-BEF23879C56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0B16773-5987-D536-736C-EDC1C85C0F1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353B48B-26D1-A8FF-5102-245C166077A3}"/>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7BADD36-73DC-9AC1-CB47-C24FBE10806C}"/>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MUNDIAL DE GRANOS Y PANELAS - MEDELLIN</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1596EB6F-CE1F-53AC-7F9A-27C23596AA0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798C141C-0999-0177-015D-1FE2E234B02D}"/>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https://drive.google.com/file/d/1vJMLA-q5xFBIumad3gO801WRcCsKf6HY/view?usp=drive_link</a:t>
            </a:r>
            <a:endParaRPr lang="es-CO" u="sng" dirty="0"/>
          </a:p>
        </p:txBody>
      </p:sp>
      <p:sp>
        <p:nvSpPr>
          <p:cNvPr id="5" name="CuadroTexto 4">
            <a:extLst>
              <a:ext uri="{FF2B5EF4-FFF2-40B4-BE49-F238E27FC236}">
                <a16:creationId xmlns:a16="http://schemas.microsoft.com/office/drawing/2014/main" id="{A70878A5-1D88-F7DB-43F9-DFC202CF7847}"/>
              </a:ext>
            </a:extLst>
          </p:cNvPr>
          <p:cNvSpPr txBox="1"/>
          <p:nvPr/>
        </p:nvSpPr>
        <p:spPr>
          <a:xfrm>
            <a:off x="3020834" y="4094081"/>
            <a:ext cx="6527898" cy="2308324"/>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a:t>
            </a:r>
            <a:r>
              <a:rPr lang="es-ES" sz="1600" dirty="0"/>
              <a:t>que realiza ofrecimiento como primera opción la marca dog chow y no pro plan como debería ser dado el canal del PDV, por ende, tampoco comunica los beneficios ni las características de este. </a:t>
            </a:r>
          </a:p>
          <a:p>
            <a:pPr marL="285750" indent="-285750" algn="just">
              <a:buFont typeface="Wingdings" panose="05000000000000000000" pitchFamily="2" charset="2"/>
              <a:buChar char="Ø"/>
            </a:pPr>
            <a:r>
              <a:rPr lang="es-ES" sz="1600" dirty="0"/>
              <a:t>Si bien se hace ofrecimiento de la marca excellent, no comunica con claridad los beneficios y características de este, simplemente explica como debería hacer la transición.</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11228B60-EB4B-6E17-AF74-751E472B76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D9B4741D-A87D-118C-7A7F-07A815DD9DFA}"/>
              </a:ext>
            </a:extLst>
          </p:cNvPr>
          <p:cNvPicPr>
            <a:picLocks noChangeAspect="1"/>
          </p:cNvPicPr>
          <p:nvPr/>
        </p:nvPicPr>
        <p:blipFill>
          <a:blip r:embed="rId4"/>
          <a:stretch>
            <a:fillRect/>
          </a:stretch>
        </p:blipFill>
        <p:spPr>
          <a:xfrm>
            <a:off x="3020833" y="1194258"/>
            <a:ext cx="6527898" cy="2003908"/>
          </a:xfrm>
          <a:prstGeom prst="rect">
            <a:avLst/>
          </a:prstGeom>
        </p:spPr>
      </p:pic>
    </p:spTree>
    <p:extLst>
      <p:ext uri="{BB962C8B-B14F-4D97-AF65-F5344CB8AC3E}">
        <p14:creationId xmlns:p14="http://schemas.microsoft.com/office/powerpoint/2010/main" val="1588003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5C583-30AC-B1A0-6FB7-A1FA49CD1F1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8EF85BB-DDA1-52BA-23D4-A906B23920E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5DF874F7-1701-6EAB-119B-606A35E5C30B}"/>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D784C140-4A51-7306-3503-01E521742EF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EXITO VIVA ENVIGADO - ENVIGADO</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1C33DC76-392D-CBAE-D51F-FC40AB265E6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824C0424-AD7B-F94C-B2E1-72184B0A8DBC}"/>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https://drive.google.com/file/d/1ILQAZHMZQcNMOP0rShVmNA6_U7q4CQJt/view?usp=drive_link</a:t>
            </a:r>
            <a:endParaRPr lang="es-CO" u="sng" dirty="0"/>
          </a:p>
        </p:txBody>
      </p:sp>
      <p:sp>
        <p:nvSpPr>
          <p:cNvPr id="2" name="CuadroTexto 1">
            <a:extLst>
              <a:ext uri="{FF2B5EF4-FFF2-40B4-BE49-F238E27FC236}">
                <a16:creationId xmlns:a16="http://schemas.microsoft.com/office/drawing/2014/main" id="{789287CA-A4CF-8D41-9298-8C8E93DA36B1}"/>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a:extLst>
              <a:ext uri="{FF2B5EF4-FFF2-40B4-BE49-F238E27FC236}">
                <a16:creationId xmlns:a16="http://schemas.microsoft.com/office/drawing/2014/main" id="{C5E4AE7C-CD24-A36C-DC65-32CD1ABC925A}"/>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BC011137-AAE8-2EC2-B039-A06D0110A8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342598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F0ED-2881-9C42-2292-92FFD6F9AD6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2CAD49-71B0-6960-B7E9-CCA1A2FF9A0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69119ADF-8470-D451-2D33-1C9922DDF85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B71B624-8335-4512-DA4C-EF7EE64FF616}"/>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ÉXITO COUNTRY </a:t>
            </a:r>
            <a:r>
              <a:rPr lang="es-MX" sz="1800" b="1" i="0" u="none" strike="noStrike" dirty="0">
                <a:solidFill>
                  <a:srgbClr val="000000"/>
                </a:solidFill>
                <a:effectLst/>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95AD48C2-AD22-F75F-A0D1-D3FA508FF326}"/>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18CA6F3-BE07-4244-7D5E-6E7D573F23B6}"/>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20EE4ACA-59EE-FFEC-19FE-E9C36071562E}"/>
              </a:ext>
            </a:extLst>
          </p:cNvPr>
          <p:cNvSpPr txBox="1"/>
          <p:nvPr/>
        </p:nvSpPr>
        <p:spPr>
          <a:xfrm>
            <a:off x="2877350" y="3104933"/>
            <a:ext cx="6611424" cy="1477328"/>
          </a:xfrm>
          <a:prstGeom prst="rect">
            <a:avLst/>
          </a:prstGeom>
          <a:noFill/>
        </p:spPr>
        <p:txBody>
          <a:bodyPr wrap="square">
            <a:spAutoFit/>
          </a:bodyPr>
          <a:lstStyle/>
          <a:p>
            <a:r>
              <a:rPr lang="es-CO" u="sng" dirty="0">
                <a:hlinkClick r:id="rId2"/>
              </a:rPr>
              <a:t>https://drive.google.com/file/d/16q40-kmggBfMBeNN8V9x-yTZWy_MTapt/view?usp=drive_link</a:t>
            </a:r>
            <a:endParaRPr lang="es-CO" u="sng" dirty="0"/>
          </a:p>
          <a:p>
            <a:endParaRPr lang="es-CO" u="sng" dirty="0"/>
          </a:p>
          <a:p>
            <a:r>
              <a:rPr lang="es-CO" dirty="0">
                <a:hlinkClick r:id="rId3"/>
              </a:rPr>
              <a:t>https://drive.google.com/file/d/1jCJyNxhwmbQgBeTBiSCS5EesLh3ARYmX/view?usp=drive_link</a:t>
            </a:r>
            <a:endParaRPr lang="es-CO" dirty="0"/>
          </a:p>
        </p:txBody>
      </p:sp>
      <p:sp>
        <p:nvSpPr>
          <p:cNvPr id="5" name="CuadroTexto 4">
            <a:extLst>
              <a:ext uri="{FF2B5EF4-FFF2-40B4-BE49-F238E27FC236}">
                <a16:creationId xmlns:a16="http://schemas.microsoft.com/office/drawing/2014/main" id="{0DFFE4B8-13FB-ABB0-BFBC-74FFCE8618FA}"/>
              </a:ext>
            </a:extLst>
          </p:cNvPr>
          <p:cNvSpPr txBox="1"/>
          <p:nvPr/>
        </p:nvSpPr>
        <p:spPr>
          <a:xfrm>
            <a:off x="2877350" y="2574987"/>
            <a:ext cx="6611424" cy="338554"/>
          </a:xfrm>
          <a:prstGeom prst="rect">
            <a:avLst/>
          </a:prstGeom>
          <a:noFill/>
          <a:ln>
            <a:solidFill>
              <a:schemeClr val="tx1"/>
            </a:solidFill>
          </a:ln>
        </p:spPr>
        <p:txBody>
          <a:bodyPr wrap="square" rtlCol="0">
            <a:spAutoFit/>
          </a:bodyPr>
          <a:lstStyle/>
          <a:p>
            <a:r>
              <a:rPr lang="es-ES" sz="1600" dirty="0"/>
              <a:t>NO SE ENCUENTRA EL ASESOR EN  EL PUNTO DE VENTA </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127EEF72-AF88-03B9-7DC5-5042AE6337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11384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9DA39-AD42-484D-A9CC-1AB39212209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9381751-9BB3-F2B7-906E-C67F23FE5B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868319F0-5F61-E9CE-2142-668BBA87EE96}"/>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D1F7406-A52E-83AE-7C6F-FCA8BE1FDAE4}"/>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170 </a:t>
            </a:r>
            <a:r>
              <a:rPr lang="es-MX" sz="1800" b="1" i="0" u="none" strike="noStrike" dirty="0">
                <a:solidFill>
                  <a:srgbClr val="000000"/>
                </a:solidFill>
                <a:effectLst/>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313F8771-1F50-1FC8-4891-5D085473FEFD}"/>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E1FF7A7-B7B0-1034-93D7-9F4E7E8DC78D}"/>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1595DA60-60A8-55A6-E7F8-BF942B25DBB6}"/>
              </a:ext>
            </a:extLst>
          </p:cNvPr>
          <p:cNvSpPr txBox="1"/>
          <p:nvPr/>
        </p:nvSpPr>
        <p:spPr>
          <a:xfrm>
            <a:off x="2877350" y="3104933"/>
            <a:ext cx="6611424" cy="1477328"/>
          </a:xfrm>
          <a:prstGeom prst="rect">
            <a:avLst/>
          </a:prstGeom>
          <a:noFill/>
        </p:spPr>
        <p:txBody>
          <a:bodyPr wrap="square">
            <a:spAutoFit/>
          </a:bodyPr>
          <a:lstStyle/>
          <a:p>
            <a:r>
              <a:rPr lang="es-CO" u="sng" dirty="0">
                <a:hlinkClick r:id="rId2"/>
              </a:rPr>
              <a:t>https://drive.google.com/file/d/1vwtSVqaI6IsN_ic7PEFry0YOyh-u56Nd/view?usp=drive_link</a:t>
            </a:r>
            <a:endParaRPr lang="es-CO" u="sng" dirty="0"/>
          </a:p>
          <a:p>
            <a:endParaRPr lang="es-CO" u="sng" dirty="0"/>
          </a:p>
          <a:p>
            <a:r>
              <a:rPr lang="es-CO" dirty="0">
                <a:hlinkClick r:id="rId3"/>
              </a:rPr>
              <a:t>https://drive.google.com/file/d/1BjakMaCsdinliKpA_mjUxxE6ji9x_kFF/view?usp=drive_link</a:t>
            </a:r>
            <a:endParaRPr lang="es-CO" dirty="0"/>
          </a:p>
        </p:txBody>
      </p:sp>
      <p:sp>
        <p:nvSpPr>
          <p:cNvPr id="5" name="CuadroTexto 4">
            <a:extLst>
              <a:ext uri="{FF2B5EF4-FFF2-40B4-BE49-F238E27FC236}">
                <a16:creationId xmlns:a16="http://schemas.microsoft.com/office/drawing/2014/main" id="{4063C00C-E261-3657-B453-7232F5411119}"/>
              </a:ext>
            </a:extLst>
          </p:cNvPr>
          <p:cNvSpPr txBox="1"/>
          <p:nvPr/>
        </p:nvSpPr>
        <p:spPr>
          <a:xfrm>
            <a:off x="2877350" y="2574987"/>
            <a:ext cx="6611424" cy="338554"/>
          </a:xfrm>
          <a:prstGeom prst="rect">
            <a:avLst/>
          </a:prstGeom>
          <a:noFill/>
          <a:ln>
            <a:solidFill>
              <a:schemeClr val="tx1"/>
            </a:solidFill>
          </a:ln>
        </p:spPr>
        <p:txBody>
          <a:bodyPr wrap="square" rtlCol="0">
            <a:spAutoFit/>
          </a:bodyPr>
          <a:lstStyle/>
          <a:p>
            <a:r>
              <a:rPr lang="es-ES" sz="1600" dirty="0"/>
              <a:t>NO SE ENCUENTRA EL ASESOR EN  EL PUNTO DE VENTA </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A94F6AF4-676D-2901-EF24-6DEB3053E6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2995309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D0E7-2B7B-667A-4307-485C571451D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0DEFDA5-1905-5C08-98DB-DD17F34DF94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6347A50-928A-0B72-CFF3-A84A2ECEEA9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D783B2E-FEBD-AA35-8C2B-274BC52DB4F5}"/>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SUPAPA REFUGIO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503C8B67-43B7-06FD-1E4B-9432820EC89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FA2F8280-C81F-2DA5-1EE1-458BEA64278D}"/>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0805D2D7-C0A0-4238-9604-007798E8B9CC}"/>
              </a:ext>
            </a:extLst>
          </p:cNvPr>
          <p:cNvSpPr txBox="1"/>
          <p:nvPr/>
        </p:nvSpPr>
        <p:spPr>
          <a:xfrm>
            <a:off x="2877350" y="3593173"/>
            <a:ext cx="6551463" cy="646331"/>
          </a:xfrm>
          <a:prstGeom prst="rect">
            <a:avLst/>
          </a:prstGeom>
          <a:noFill/>
        </p:spPr>
        <p:txBody>
          <a:bodyPr wrap="square">
            <a:spAutoFit/>
          </a:bodyPr>
          <a:lstStyle/>
          <a:p>
            <a:r>
              <a:rPr lang="es-CO" u="sng" dirty="0">
                <a:hlinkClick r:id="rId2"/>
              </a:rPr>
              <a:t>https://drive.google.com/file/d/1B0BeA7GKsitXt107CMItYhlf7N-hS3WO/view?usp=drive_link</a:t>
            </a:r>
            <a:endParaRPr lang="es-CO" u="sng" dirty="0"/>
          </a:p>
        </p:txBody>
      </p:sp>
      <p:pic>
        <p:nvPicPr>
          <p:cNvPr id="2" name="Imagen 1" descr="Icono&#10;&#10;Descripción generada automáticamente">
            <a:extLst>
              <a:ext uri="{FF2B5EF4-FFF2-40B4-BE49-F238E27FC236}">
                <a16:creationId xmlns:a16="http://schemas.microsoft.com/office/drawing/2014/main" id="{0F0B82DC-0037-1539-5BA6-57C546288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4" name="CuadroTexto 3">
            <a:extLst>
              <a:ext uri="{FF2B5EF4-FFF2-40B4-BE49-F238E27FC236}">
                <a16:creationId xmlns:a16="http://schemas.microsoft.com/office/drawing/2014/main" id="{A1F27618-D143-AAF1-39E3-47BF902F5D70}"/>
              </a:ext>
            </a:extLst>
          </p:cNvPr>
          <p:cNvSpPr txBox="1"/>
          <p:nvPr/>
        </p:nvSpPr>
        <p:spPr>
          <a:xfrm>
            <a:off x="2877350" y="3017137"/>
            <a:ext cx="6611424" cy="338554"/>
          </a:xfrm>
          <a:prstGeom prst="rect">
            <a:avLst/>
          </a:prstGeom>
          <a:noFill/>
          <a:ln>
            <a:solidFill>
              <a:schemeClr val="tx1"/>
            </a:solidFill>
          </a:ln>
        </p:spPr>
        <p:txBody>
          <a:bodyPr wrap="square" rtlCol="0">
            <a:spAutoFit/>
          </a:bodyPr>
          <a:lstStyle/>
          <a:p>
            <a:r>
              <a:rPr lang="es-ES" sz="1600" dirty="0"/>
              <a:t>NO SE ENCUENTRA EL ASESOR EN  EL PUNTO DE VENTA </a:t>
            </a:r>
            <a:endParaRPr lang="es-MX" sz="1600" dirty="0">
              <a:highlight>
                <a:srgbClr val="C0C0C0"/>
              </a:highlight>
            </a:endParaRPr>
          </a:p>
        </p:txBody>
      </p:sp>
    </p:spTree>
    <p:extLst>
      <p:ext uri="{BB962C8B-B14F-4D97-AF65-F5344CB8AC3E}">
        <p14:creationId xmlns:p14="http://schemas.microsoft.com/office/powerpoint/2010/main" val="3466042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5" y="1239571"/>
            <a:ext cx="8797907" cy="3046988"/>
          </a:xfrm>
          <a:prstGeom prst="rect">
            <a:avLst/>
          </a:prstGeom>
          <a:noFill/>
        </p:spPr>
        <p:txBody>
          <a:bodyPr wrap="square">
            <a:spAutoFit/>
          </a:bodyPr>
          <a:lstStyle/>
          <a:p>
            <a:r>
              <a:rPr lang="es-MX" sz="1600" b="1" dirty="0"/>
              <a:t>Portafolio y Manejo de Objeciones: </a:t>
            </a:r>
            <a:endParaRPr lang="es-CO" altLang="es-CO" sz="1600" dirty="0"/>
          </a:p>
          <a:p>
            <a:pPr marL="285750" indent="-285750">
              <a:buFont typeface="Arial" panose="020B0604020202020204" pitchFamily="34" charset="0"/>
              <a:buChar char="•"/>
            </a:pPr>
            <a:r>
              <a:rPr lang="es-CO" altLang="es-CO" sz="1600" dirty="0"/>
              <a:t>Capacitación en argumentación de ventas: Realizar talleres prácticos sobre los beneficios del portafolio y cómo responder objeciones comunes.</a:t>
            </a:r>
          </a:p>
          <a:p>
            <a:pPr marL="285750" indent="-285750">
              <a:buFont typeface="Arial" panose="020B0604020202020204" pitchFamily="34" charset="0"/>
              <a:buChar char="•"/>
            </a:pPr>
            <a:r>
              <a:rPr lang="es-CO" altLang="es-CO" sz="1600" dirty="0"/>
              <a:t>Guías rápidas de objeciones: Crear material de consulta rápida con respuestas efectivas a dudas frecuentes.</a:t>
            </a:r>
          </a:p>
          <a:p>
            <a:pPr marL="285750" indent="-285750">
              <a:buFont typeface="Arial" panose="020B0604020202020204" pitchFamily="34" charset="0"/>
              <a:buChar char="•"/>
            </a:pPr>
            <a:r>
              <a:rPr lang="es-CO" altLang="es-CO" sz="1600" dirty="0"/>
              <a:t>Role </a:t>
            </a:r>
            <a:r>
              <a:rPr lang="es-CO" altLang="es-CO" sz="1600" dirty="0" err="1"/>
              <a:t>playing</a:t>
            </a:r>
            <a:r>
              <a:rPr lang="es-CO" altLang="es-CO" sz="1600" dirty="0"/>
              <a:t> semanal: Simulaciones de ventas para mejorar la confianza en la argumentación</a:t>
            </a:r>
          </a:p>
          <a:p>
            <a:pPr marL="285750" indent="-285750">
              <a:buFont typeface="Arial" panose="020B0604020202020204" pitchFamily="34" charset="0"/>
              <a:buChar char="•"/>
            </a:pPr>
            <a:endParaRPr lang="es-CO" altLang="es-CO" sz="1600" dirty="0"/>
          </a:p>
          <a:p>
            <a:r>
              <a:rPr lang="es-CO" sz="1600" b="1" dirty="0"/>
              <a:t>Labor de Venta</a:t>
            </a:r>
            <a:r>
              <a:rPr lang="es-CO" sz="1600" dirty="0"/>
              <a:t> </a:t>
            </a:r>
            <a:r>
              <a:rPr lang="es-MX" sz="1600" b="1" dirty="0"/>
              <a:t>: </a:t>
            </a:r>
            <a:endParaRPr lang="es-CO" altLang="es-CO" sz="1600" dirty="0"/>
          </a:p>
          <a:p>
            <a:pPr marL="285750" indent="-285750">
              <a:buFont typeface="Arial" panose="020B0604020202020204" pitchFamily="34" charset="0"/>
              <a:buChar char="•"/>
            </a:pPr>
            <a:r>
              <a:rPr lang="es-CO" altLang="es-CO" sz="1600" dirty="0"/>
              <a:t>Entrenamiento en técnicas de cierre de ventas: Reforzar la venta consultiva con enfoque en necesidades del cliente.</a:t>
            </a:r>
          </a:p>
          <a:p>
            <a:pPr marL="285750" indent="-285750">
              <a:buFont typeface="Arial" panose="020B0604020202020204" pitchFamily="34" charset="0"/>
              <a:buChar char="•"/>
            </a:pPr>
            <a:r>
              <a:rPr lang="es-CO" altLang="es-CO" sz="1600" dirty="0"/>
              <a:t>Seguimiento con evaluaciones internas: </a:t>
            </a:r>
            <a:r>
              <a:rPr lang="es-CO" altLang="es-CO" sz="1600" dirty="0" err="1"/>
              <a:t>Mistery</a:t>
            </a:r>
            <a:r>
              <a:rPr lang="es-CO" altLang="es-CO" sz="1600" dirty="0"/>
              <a:t> </a:t>
            </a:r>
            <a:r>
              <a:rPr lang="es-CO" altLang="es-CO" sz="1600" dirty="0" err="1"/>
              <a:t>shoppers</a:t>
            </a:r>
            <a:r>
              <a:rPr lang="es-CO" altLang="es-CO" sz="1600" dirty="0"/>
              <a:t> internos para validar mejoras.</a:t>
            </a:r>
          </a:p>
          <a:p>
            <a:pPr marL="285750" indent="-285750">
              <a:buFont typeface="Arial" panose="020B0604020202020204" pitchFamily="34" charset="0"/>
              <a:buChar char="•"/>
            </a:pPr>
            <a:r>
              <a:rPr lang="es-CO" altLang="es-CO" sz="1600" dirty="0"/>
              <a:t>Incentivos por conversión: Recompensar a asesores con mayores tasas de cierre.</a:t>
            </a:r>
          </a:p>
        </p:txBody>
      </p:sp>
      <p:pic>
        <p:nvPicPr>
          <p:cNvPr id="2" name="Imagen 1" descr="Icono&#10;&#10;Descripción generada automáticamente">
            <a:extLst>
              <a:ext uri="{FF2B5EF4-FFF2-40B4-BE49-F238E27FC236}">
                <a16:creationId xmlns:a16="http://schemas.microsoft.com/office/drawing/2014/main" id="{573C6342-79EA-66F6-3FE9-DED0F002C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523bf45-09fb-4f9b-aa49-e403c0417b1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FA310A980BBAC44A75191F65BAE12E7" ma:contentTypeVersion="17" ma:contentTypeDescription="Crear nuevo documento." ma:contentTypeScope="" ma:versionID="1b66a577699fb63061267e374f5870ae">
  <xsd:schema xmlns:xsd="http://www.w3.org/2001/XMLSchema" xmlns:xs="http://www.w3.org/2001/XMLSchema" xmlns:p="http://schemas.microsoft.com/office/2006/metadata/properties" xmlns:ns3="e523bf45-09fb-4f9b-aa49-e403c0417b10" xmlns:ns4="726c8eaf-14c1-4e89-a6e9-59524033e4a7" targetNamespace="http://schemas.microsoft.com/office/2006/metadata/properties" ma:root="true" ma:fieldsID="1778c55661338f28ad7931875976b49f" ns3:_="" ns4:_="">
    <xsd:import namespace="e523bf45-09fb-4f9b-aa49-e403c0417b10"/>
    <xsd:import namespace="726c8eaf-14c1-4e89-a6e9-59524033e4a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3bf45-09fb-4f9b-aa49-e403c0417b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6c8eaf-14c1-4e89-a6e9-59524033e4a7"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element name="SharingHintHash" ma:index="19"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446356-CFDD-47F4-A1AC-D66587E12E15}">
  <ds:schemaRef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 ds:uri="e523bf45-09fb-4f9b-aa49-e403c0417b10"/>
    <ds:schemaRef ds:uri="http://purl.org/dc/elements/1.1/"/>
    <ds:schemaRef ds:uri="http://purl.org/dc/dcmitype/"/>
    <ds:schemaRef ds:uri="726c8eaf-14c1-4e89-a6e9-59524033e4a7"/>
    <ds:schemaRef ds:uri="http://www.w3.org/XML/1998/namespace"/>
  </ds:schemaRefs>
</ds:datastoreItem>
</file>

<file path=customXml/itemProps2.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3.xml><?xml version="1.0" encoding="utf-8"?>
<ds:datastoreItem xmlns:ds="http://schemas.openxmlformats.org/officeDocument/2006/customXml" ds:itemID="{DFC701C1-7C78-499B-B1A4-7BF88100E1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23bf45-09fb-4f9b-aa49-e403c0417b10"/>
    <ds:schemaRef ds:uri="726c8eaf-14c1-4e89-a6e9-59524033e4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5760</TotalTime>
  <Words>2884</Words>
  <Application>Microsoft Office PowerPoint</Application>
  <PresentationFormat>Panorámica</PresentationFormat>
  <Paragraphs>336</Paragraphs>
  <Slides>32</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32</vt:i4>
      </vt:variant>
    </vt:vector>
  </HeadingPairs>
  <TitlesOfParts>
    <vt:vector size="40" baseType="lpstr">
      <vt:lpstr>Aptos</vt:lpstr>
      <vt:lpstr>Aptos Display</vt:lpstr>
      <vt:lpstr>Aptos Narrow</vt:lpstr>
      <vt:lpstr>Arial</vt:lpstr>
      <vt:lpstr>Franklin Gothic Demi</vt:lpstr>
      <vt:lpstr>ui-sans-serif</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Karen Viviana Cruz Rodríguez</cp:lastModifiedBy>
  <cp:revision>36</cp:revision>
  <dcterms:created xsi:type="dcterms:W3CDTF">2024-07-23T15:31:20Z</dcterms:created>
  <dcterms:modified xsi:type="dcterms:W3CDTF">2025-12-04T21:54:25Z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0x0101009FA310A980BBAC44A75191F65BAE12E7</vt:lpwstr>
  </property>
</Properties>
</file>